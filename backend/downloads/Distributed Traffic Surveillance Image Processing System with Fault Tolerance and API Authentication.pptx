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59" r:id="rId6"/>
    <p:sldId id="265" r:id="rId7"/>
    <p:sldId id="263" r:id="rId8"/>
    <p:sldId id="262"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8" d="100"/>
          <a:sy n="48" d="100"/>
        </p:scale>
        <p:origin x="67" y="7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B325C-CDB7-A6C9-ABC7-F76EE5B426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2446E80-4DFF-348D-6F4B-7ADAF2DEF6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D18D799-AA96-737C-9E1E-8F6DBD6666D6}"/>
              </a:ext>
            </a:extLst>
          </p:cNvPr>
          <p:cNvSpPr>
            <a:spLocks noGrp="1"/>
          </p:cNvSpPr>
          <p:nvPr>
            <p:ph type="dt" sz="half" idx="10"/>
          </p:nvPr>
        </p:nvSpPr>
        <p:spPr/>
        <p:txBody>
          <a:bodyPr/>
          <a:lstStyle/>
          <a:p>
            <a:fld id="{631717AA-58BD-4B62-85DB-AA4D8FF97EDA}" type="datetimeFigureOut">
              <a:rPr lang="en-IN" smtClean="0"/>
              <a:t>15-04-2025</a:t>
            </a:fld>
            <a:endParaRPr lang="en-IN"/>
          </a:p>
        </p:txBody>
      </p:sp>
      <p:sp>
        <p:nvSpPr>
          <p:cNvPr id="5" name="Footer Placeholder 4">
            <a:extLst>
              <a:ext uri="{FF2B5EF4-FFF2-40B4-BE49-F238E27FC236}">
                <a16:creationId xmlns:a16="http://schemas.microsoft.com/office/drawing/2014/main" id="{F2D0087E-2925-7664-5DAB-604B134980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364826-5051-BC3C-4CC7-E3DA5E8E5497}"/>
              </a:ext>
            </a:extLst>
          </p:cNvPr>
          <p:cNvSpPr>
            <a:spLocks noGrp="1"/>
          </p:cNvSpPr>
          <p:nvPr>
            <p:ph type="sldNum" sz="quarter" idx="12"/>
          </p:nvPr>
        </p:nvSpPr>
        <p:spPr/>
        <p:txBody>
          <a:bodyPr/>
          <a:lstStyle/>
          <a:p>
            <a:fld id="{6C1DA989-B6E0-4E48-B38D-0ED2691544AF}" type="slidenum">
              <a:rPr lang="en-IN" smtClean="0"/>
              <a:t>‹#›</a:t>
            </a:fld>
            <a:endParaRPr lang="en-IN"/>
          </a:p>
        </p:txBody>
      </p:sp>
    </p:spTree>
    <p:extLst>
      <p:ext uri="{BB962C8B-B14F-4D97-AF65-F5344CB8AC3E}">
        <p14:creationId xmlns:p14="http://schemas.microsoft.com/office/powerpoint/2010/main" val="33404091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0ECE0-EBF7-A304-414D-FE3839E5DBE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F99F621-6DB5-434A-8657-A5C0768F78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E79238D-47B9-2E7C-E208-21BEDB14B543}"/>
              </a:ext>
            </a:extLst>
          </p:cNvPr>
          <p:cNvSpPr>
            <a:spLocks noGrp="1"/>
          </p:cNvSpPr>
          <p:nvPr>
            <p:ph type="dt" sz="half" idx="10"/>
          </p:nvPr>
        </p:nvSpPr>
        <p:spPr/>
        <p:txBody>
          <a:bodyPr/>
          <a:lstStyle/>
          <a:p>
            <a:fld id="{631717AA-58BD-4B62-85DB-AA4D8FF97EDA}" type="datetimeFigureOut">
              <a:rPr lang="en-IN" smtClean="0"/>
              <a:t>15-04-2025</a:t>
            </a:fld>
            <a:endParaRPr lang="en-IN"/>
          </a:p>
        </p:txBody>
      </p:sp>
      <p:sp>
        <p:nvSpPr>
          <p:cNvPr id="5" name="Footer Placeholder 4">
            <a:extLst>
              <a:ext uri="{FF2B5EF4-FFF2-40B4-BE49-F238E27FC236}">
                <a16:creationId xmlns:a16="http://schemas.microsoft.com/office/drawing/2014/main" id="{90DD448C-84DC-1E92-7FC5-86D2A4FEBA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A9EBB8-826F-705B-D01E-2784E125443D}"/>
              </a:ext>
            </a:extLst>
          </p:cNvPr>
          <p:cNvSpPr>
            <a:spLocks noGrp="1"/>
          </p:cNvSpPr>
          <p:nvPr>
            <p:ph type="sldNum" sz="quarter" idx="12"/>
          </p:nvPr>
        </p:nvSpPr>
        <p:spPr/>
        <p:txBody>
          <a:bodyPr/>
          <a:lstStyle/>
          <a:p>
            <a:fld id="{6C1DA989-B6E0-4E48-B38D-0ED2691544AF}" type="slidenum">
              <a:rPr lang="en-IN" smtClean="0"/>
              <a:t>‹#›</a:t>
            </a:fld>
            <a:endParaRPr lang="en-IN"/>
          </a:p>
        </p:txBody>
      </p:sp>
    </p:spTree>
    <p:extLst>
      <p:ext uri="{BB962C8B-B14F-4D97-AF65-F5344CB8AC3E}">
        <p14:creationId xmlns:p14="http://schemas.microsoft.com/office/powerpoint/2010/main" val="38103115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1EB38-D358-74F3-F388-838D6F85F35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E6D8978-68E7-7B22-F2F3-876E886462E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5F9FC4-0CE2-3AF4-0577-B4BEEC9C1FF1}"/>
              </a:ext>
            </a:extLst>
          </p:cNvPr>
          <p:cNvSpPr>
            <a:spLocks noGrp="1"/>
          </p:cNvSpPr>
          <p:nvPr>
            <p:ph type="dt" sz="half" idx="10"/>
          </p:nvPr>
        </p:nvSpPr>
        <p:spPr/>
        <p:txBody>
          <a:bodyPr/>
          <a:lstStyle/>
          <a:p>
            <a:fld id="{631717AA-58BD-4B62-85DB-AA4D8FF97EDA}" type="datetimeFigureOut">
              <a:rPr lang="en-IN" smtClean="0"/>
              <a:t>15-04-2025</a:t>
            </a:fld>
            <a:endParaRPr lang="en-IN"/>
          </a:p>
        </p:txBody>
      </p:sp>
      <p:sp>
        <p:nvSpPr>
          <p:cNvPr id="5" name="Footer Placeholder 4">
            <a:extLst>
              <a:ext uri="{FF2B5EF4-FFF2-40B4-BE49-F238E27FC236}">
                <a16:creationId xmlns:a16="http://schemas.microsoft.com/office/drawing/2014/main" id="{3FFDE320-44BB-7EAB-0515-8C67761C05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99968A-F206-6684-F4B8-31694B8B53A6}"/>
              </a:ext>
            </a:extLst>
          </p:cNvPr>
          <p:cNvSpPr>
            <a:spLocks noGrp="1"/>
          </p:cNvSpPr>
          <p:nvPr>
            <p:ph type="sldNum" sz="quarter" idx="12"/>
          </p:nvPr>
        </p:nvSpPr>
        <p:spPr/>
        <p:txBody>
          <a:bodyPr/>
          <a:lstStyle/>
          <a:p>
            <a:fld id="{6C1DA989-B6E0-4E48-B38D-0ED2691544AF}" type="slidenum">
              <a:rPr lang="en-IN" smtClean="0"/>
              <a:t>‹#›</a:t>
            </a:fld>
            <a:endParaRPr lang="en-IN"/>
          </a:p>
        </p:txBody>
      </p:sp>
    </p:spTree>
    <p:extLst>
      <p:ext uri="{BB962C8B-B14F-4D97-AF65-F5344CB8AC3E}">
        <p14:creationId xmlns:p14="http://schemas.microsoft.com/office/powerpoint/2010/main" val="1456249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41498-0A8D-B575-91A4-BDDE2D33541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0AA73E2-96DA-96ED-F31D-9E15E239132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DCBC83D-EAD6-FACC-AA11-6410DF500F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519DAE9-B65A-B0EE-C163-6D82F20D7B87}"/>
              </a:ext>
            </a:extLst>
          </p:cNvPr>
          <p:cNvSpPr>
            <a:spLocks noGrp="1"/>
          </p:cNvSpPr>
          <p:nvPr>
            <p:ph type="dt" sz="half" idx="10"/>
          </p:nvPr>
        </p:nvSpPr>
        <p:spPr/>
        <p:txBody>
          <a:bodyPr/>
          <a:lstStyle/>
          <a:p>
            <a:fld id="{631717AA-58BD-4B62-85DB-AA4D8FF97EDA}" type="datetimeFigureOut">
              <a:rPr lang="en-IN" smtClean="0"/>
              <a:t>15-04-2025</a:t>
            </a:fld>
            <a:endParaRPr lang="en-IN"/>
          </a:p>
        </p:txBody>
      </p:sp>
      <p:sp>
        <p:nvSpPr>
          <p:cNvPr id="6" name="Footer Placeholder 5">
            <a:extLst>
              <a:ext uri="{FF2B5EF4-FFF2-40B4-BE49-F238E27FC236}">
                <a16:creationId xmlns:a16="http://schemas.microsoft.com/office/drawing/2014/main" id="{55945999-0C07-6AE6-97C7-E0A78688FC2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1277E26-6AEA-C854-D65B-5B1C75ACC0F5}"/>
              </a:ext>
            </a:extLst>
          </p:cNvPr>
          <p:cNvSpPr>
            <a:spLocks noGrp="1"/>
          </p:cNvSpPr>
          <p:nvPr>
            <p:ph type="sldNum" sz="quarter" idx="12"/>
          </p:nvPr>
        </p:nvSpPr>
        <p:spPr/>
        <p:txBody>
          <a:bodyPr/>
          <a:lstStyle/>
          <a:p>
            <a:fld id="{6C1DA989-B6E0-4E48-B38D-0ED2691544AF}" type="slidenum">
              <a:rPr lang="en-IN" smtClean="0"/>
              <a:t>‹#›</a:t>
            </a:fld>
            <a:endParaRPr lang="en-IN"/>
          </a:p>
        </p:txBody>
      </p:sp>
    </p:spTree>
    <p:extLst>
      <p:ext uri="{BB962C8B-B14F-4D97-AF65-F5344CB8AC3E}">
        <p14:creationId xmlns:p14="http://schemas.microsoft.com/office/powerpoint/2010/main" val="2802343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FDA36-02BD-BD60-751B-EDA920B2969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CC20970-BFEF-D20A-866A-6B52255A73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DC2B608-AC75-449A-B627-393993BD5A6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DB4ABD9-D5AD-1B6D-94B0-C4EED4445E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E63000B-B34B-5FED-48E7-BA78BBA728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3B52130-3ECF-36FE-F2E3-05435E6B230A}"/>
              </a:ext>
            </a:extLst>
          </p:cNvPr>
          <p:cNvSpPr>
            <a:spLocks noGrp="1"/>
          </p:cNvSpPr>
          <p:nvPr>
            <p:ph type="dt" sz="half" idx="10"/>
          </p:nvPr>
        </p:nvSpPr>
        <p:spPr/>
        <p:txBody>
          <a:bodyPr/>
          <a:lstStyle/>
          <a:p>
            <a:fld id="{631717AA-58BD-4B62-85DB-AA4D8FF97EDA}" type="datetimeFigureOut">
              <a:rPr lang="en-IN" smtClean="0"/>
              <a:t>15-04-2025</a:t>
            </a:fld>
            <a:endParaRPr lang="en-IN"/>
          </a:p>
        </p:txBody>
      </p:sp>
      <p:sp>
        <p:nvSpPr>
          <p:cNvPr id="8" name="Footer Placeholder 7">
            <a:extLst>
              <a:ext uri="{FF2B5EF4-FFF2-40B4-BE49-F238E27FC236}">
                <a16:creationId xmlns:a16="http://schemas.microsoft.com/office/drawing/2014/main" id="{E5D77F85-7E97-33C0-3D8A-B8BE48904E9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9CB748F-151C-B805-5854-9E907A81B903}"/>
              </a:ext>
            </a:extLst>
          </p:cNvPr>
          <p:cNvSpPr>
            <a:spLocks noGrp="1"/>
          </p:cNvSpPr>
          <p:nvPr>
            <p:ph type="sldNum" sz="quarter" idx="12"/>
          </p:nvPr>
        </p:nvSpPr>
        <p:spPr/>
        <p:txBody>
          <a:bodyPr/>
          <a:lstStyle/>
          <a:p>
            <a:fld id="{6C1DA989-B6E0-4E48-B38D-0ED2691544AF}" type="slidenum">
              <a:rPr lang="en-IN" smtClean="0"/>
              <a:t>‹#›</a:t>
            </a:fld>
            <a:endParaRPr lang="en-IN"/>
          </a:p>
        </p:txBody>
      </p:sp>
    </p:spTree>
    <p:extLst>
      <p:ext uri="{BB962C8B-B14F-4D97-AF65-F5344CB8AC3E}">
        <p14:creationId xmlns:p14="http://schemas.microsoft.com/office/powerpoint/2010/main" val="1696037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7CE4D-954A-1227-58BF-82AC59B7579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FA8FFBF-A4A1-65C4-F8B9-629931937FB6}"/>
              </a:ext>
            </a:extLst>
          </p:cNvPr>
          <p:cNvSpPr>
            <a:spLocks noGrp="1"/>
          </p:cNvSpPr>
          <p:nvPr>
            <p:ph type="dt" sz="half" idx="10"/>
          </p:nvPr>
        </p:nvSpPr>
        <p:spPr/>
        <p:txBody>
          <a:bodyPr/>
          <a:lstStyle/>
          <a:p>
            <a:fld id="{631717AA-58BD-4B62-85DB-AA4D8FF97EDA}" type="datetimeFigureOut">
              <a:rPr lang="en-IN" smtClean="0"/>
              <a:t>15-04-2025</a:t>
            </a:fld>
            <a:endParaRPr lang="en-IN"/>
          </a:p>
        </p:txBody>
      </p:sp>
      <p:sp>
        <p:nvSpPr>
          <p:cNvPr id="4" name="Footer Placeholder 3">
            <a:extLst>
              <a:ext uri="{FF2B5EF4-FFF2-40B4-BE49-F238E27FC236}">
                <a16:creationId xmlns:a16="http://schemas.microsoft.com/office/drawing/2014/main" id="{17E270E1-D5CE-9524-35AF-3EF43E698C6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B50CA09-519E-8AF2-01D5-CE267F6D73EF}"/>
              </a:ext>
            </a:extLst>
          </p:cNvPr>
          <p:cNvSpPr>
            <a:spLocks noGrp="1"/>
          </p:cNvSpPr>
          <p:nvPr>
            <p:ph type="sldNum" sz="quarter" idx="12"/>
          </p:nvPr>
        </p:nvSpPr>
        <p:spPr/>
        <p:txBody>
          <a:bodyPr/>
          <a:lstStyle/>
          <a:p>
            <a:fld id="{6C1DA989-B6E0-4E48-B38D-0ED2691544AF}" type="slidenum">
              <a:rPr lang="en-IN" smtClean="0"/>
              <a:t>‹#›</a:t>
            </a:fld>
            <a:endParaRPr lang="en-IN"/>
          </a:p>
        </p:txBody>
      </p:sp>
    </p:spTree>
    <p:extLst>
      <p:ext uri="{BB962C8B-B14F-4D97-AF65-F5344CB8AC3E}">
        <p14:creationId xmlns:p14="http://schemas.microsoft.com/office/powerpoint/2010/main" val="29517534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4709E6-EB97-CEC3-7A62-6CEF16016DDB}"/>
              </a:ext>
            </a:extLst>
          </p:cNvPr>
          <p:cNvSpPr>
            <a:spLocks noGrp="1"/>
          </p:cNvSpPr>
          <p:nvPr>
            <p:ph type="dt" sz="half" idx="10"/>
          </p:nvPr>
        </p:nvSpPr>
        <p:spPr/>
        <p:txBody>
          <a:bodyPr/>
          <a:lstStyle/>
          <a:p>
            <a:fld id="{631717AA-58BD-4B62-85DB-AA4D8FF97EDA}" type="datetimeFigureOut">
              <a:rPr lang="en-IN" smtClean="0"/>
              <a:t>15-04-2025</a:t>
            </a:fld>
            <a:endParaRPr lang="en-IN"/>
          </a:p>
        </p:txBody>
      </p:sp>
      <p:sp>
        <p:nvSpPr>
          <p:cNvPr id="3" name="Footer Placeholder 2">
            <a:extLst>
              <a:ext uri="{FF2B5EF4-FFF2-40B4-BE49-F238E27FC236}">
                <a16:creationId xmlns:a16="http://schemas.microsoft.com/office/drawing/2014/main" id="{0132701D-BB64-349F-5D0C-E16DCB615F3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C37B71D-B2F2-B5AC-4EAC-00F06DDB205F}"/>
              </a:ext>
            </a:extLst>
          </p:cNvPr>
          <p:cNvSpPr>
            <a:spLocks noGrp="1"/>
          </p:cNvSpPr>
          <p:nvPr>
            <p:ph type="sldNum" sz="quarter" idx="12"/>
          </p:nvPr>
        </p:nvSpPr>
        <p:spPr/>
        <p:txBody>
          <a:bodyPr/>
          <a:lstStyle/>
          <a:p>
            <a:fld id="{6C1DA989-B6E0-4E48-B38D-0ED2691544AF}" type="slidenum">
              <a:rPr lang="en-IN" smtClean="0"/>
              <a:t>‹#›</a:t>
            </a:fld>
            <a:endParaRPr lang="en-IN"/>
          </a:p>
        </p:txBody>
      </p:sp>
    </p:spTree>
    <p:extLst>
      <p:ext uri="{BB962C8B-B14F-4D97-AF65-F5344CB8AC3E}">
        <p14:creationId xmlns:p14="http://schemas.microsoft.com/office/powerpoint/2010/main" val="1722275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2E943-4798-C0C9-EE1A-3338D1E3CA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E021FD6-6F4B-D65A-0CBA-87C60A6EB6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AA5CFFA-3F72-FC74-379A-736B10F1EF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88EA3F-2565-700D-95E8-364B4746FACB}"/>
              </a:ext>
            </a:extLst>
          </p:cNvPr>
          <p:cNvSpPr>
            <a:spLocks noGrp="1"/>
          </p:cNvSpPr>
          <p:nvPr>
            <p:ph type="dt" sz="half" idx="10"/>
          </p:nvPr>
        </p:nvSpPr>
        <p:spPr/>
        <p:txBody>
          <a:bodyPr/>
          <a:lstStyle/>
          <a:p>
            <a:fld id="{631717AA-58BD-4B62-85DB-AA4D8FF97EDA}" type="datetimeFigureOut">
              <a:rPr lang="en-IN" smtClean="0"/>
              <a:t>15-04-2025</a:t>
            </a:fld>
            <a:endParaRPr lang="en-IN"/>
          </a:p>
        </p:txBody>
      </p:sp>
      <p:sp>
        <p:nvSpPr>
          <p:cNvPr id="6" name="Footer Placeholder 5">
            <a:extLst>
              <a:ext uri="{FF2B5EF4-FFF2-40B4-BE49-F238E27FC236}">
                <a16:creationId xmlns:a16="http://schemas.microsoft.com/office/drawing/2014/main" id="{21BBB18A-F187-9AA8-09F2-E1F39D24CCD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544F138-BBF7-86B4-CCFE-A0A8B5E52ABB}"/>
              </a:ext>
            </a:extLst>
          </p:cNvPr>
          <p:cNvSpPr>
            <a:spLocks noGrp="1"/>
          </p:cNvSpPr>
          <p:nvPr>
            <p:ph type="sldNum" sz="quarter" idx="12"/>
          </p:nvPr>
        </p:nvSpPr>
        <p:spPr/>
        <p:txBody>
          <a:bodyPr/>
          <a:lstStyle/>
          <a:p>
            <a:fld id="{6C1DA989-B6E0-4E48-B38D-0ED2691544AF}" type="slidenum">
              <a:rPr lang="en-IN" smtClean="0"/>
              <a:t>‹#›</a:t>
            </a:fld>
            <a:endParaRPr lang="en-IN"/>
          </a:p>
        </p:txBody>
      </p:sp>
    </p:spTree>
    <p:extLst>
      <p:ext uri="{BB962C8B-B14F-4D97-AF65-F5344CB8AC3E}">
        <p14:creationId xmlns:p14="http://schemas.microsoft.com/office/powerpoint/2010/main" val="2950579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FEC52-4300-D42B-A688-5B15F331CD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75CE113-808A-EF08-3B35-08BD17960A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219F063-BC9C-E5E7-0BF0-8EA1D0932D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0E6A88-A019-F320-9666-C29F705E55F7}"/>
              </a:ext>
            </a:extLst>
          </p:cNvPr>
          <p:cNvSpPr>
            <a:spLocks noGrp="1"/>
          </p:cNvSpPr>
          <p:nvPr>
            <p:ph type="dt" sz="half" idx="10"/>
          </p:nvPr>
        </p:nvSpPr>
        <p:spPr/>
        <p:txBody>
          <a:bodyPr/>
          <a:lstStyle/>
          <a:p>
            <a:fld id="{631717AA-58BD-4B62-85DB-AA4D8FF97EDA}" type="datetimeFigureOut">
              <a:rPr lang="en-IN" smtClean="0"/>
              <a:t>15-04-2025</a:t>
            </a:fld>
            <a:endParaRPr lang="en-IN"/>
          </a:p>
        </p:txBody>
      </p:sp>
      <p:sp>
        <p:nvSpPr>
          <p:cNvPr id="6" name="Footer Placeholder 5">
            <a:extLst>
              <a:ext uri="{FF2B5EF4-FFF2-40B4-BE49-F238E27FC236}">
                <a16:creationId xmlns:a16="http://schemas.microsoft.com/office/drawing/2014/main" id="{C5C1F485-5941-FA81-23D0-62D0635F7D5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40E82AC-BFC8-A608-C671-D2A3D2CF707C}"/>
              </a:ext>
            </a:extLst>
          </p:cNvPr>
          <p:cNvSpPr>
            <a:spLocks noGrp="1"/>
          </p:cNvSpPr>
          <p:nvPr>
            <p:ph type="sldNum" sz="quarter" idx="12"/>
          </p:nvPr>
        </p:nvSpPr>
        <p:spPr/>
        <p:txBody>
          <a:bodyPr/>
          <a:lstStyle/>
          <a:p>
            <a:fld id="{6C1DA989-B6E0-4E48-B38D-0ED2691544AF}" type="slidenum">
              <a:rPr lang="en-IN" smtClean="0"/>
              <a:t>‹#›</a:t>
            </a:fld>
            <a:endParaRPr lang="en-IN"/>
          </a:p>
        </p:txBody>
      </p:sp>
    </p:spTree>
    <p:extLst>
      <p:ext uri="{BB962C8B-B14F-4D97-AF65-F5344CB8AC3E}">
        <p14:creationId xmlns:p14="http://schemas.microsoft.com/office/powerpoint/2010/main" val="39990106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6558A-DD24-6799-AF14-A8E7EE88DCF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CE85180-F4F8-15CB-46EC-D4B2E8125E9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E0CEF0-C327-B0C8-E29D-DEEDBBAC6A0E}"/>
              </a:ext>
            </a:extLst>
          </p:cNvPr>
          <p:cNvSpPr>
            <a:spLocks noGrp="1"/>
          </p:cNvSpPr>
          <p:nvPr>
            <p:ph type="dt" sz="half" idx="10"/>
          </p:nvPr>
        </p:nvSpPr>
        <p:spPr/>
        <p:txBody>
          <a:bodyPr/>
          <a:lstStyle/>
          <a:p>
            <a:fld id="{631717AA-58BD-4B62-85DB-AA4D8FF97EDA}" type="datetimeFigureOut">
              <a:rPr lang="en-IN" smtClean="0"/>
              <a:t>15-04-2025</a:t>
            </a:fld>
            <a:endParaRPr lang="en-IN"/>
          </a:p>
        </p:txBody>
      </p:sp>
      <p:sp>
        <p:nvSpPr>
          <p:cNvPr id="5" name="Footer Placeholder 4">
            <a:extLst>
              <a:ext uri="{FF2B5EF4-FFF2-40B4-BE49-F238E27FC236}">
                <a16:creationId xmlns:a16="http://schemas.microsoft.com/office/drawing/2014/main" id="{F784C4B2-7C41-02AF-2386-D8D7CF2655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35C402-4BB1-66C0-E23A-FE44BBD932E8}"/>
              </a:ext>
            </a:extLst>
          </p:cNvPr>
          <p:cNvSpPr>
            <a:spLocks noGrp="1"/>
          </p:cNvSpPr>
          <p:nvPr>
            <p:ph type="sldNum" sz="quarter" idx="12"/>
          </p:nvPr>
        </p:nvSpPr>
        <p:spPr/>
        <p:txBody>
          <a:bodyPr/>
          <a:lstStyle/>
          <a:p>
            <a:fld id="{6C1DA989-B6E0-4E48-B38D-0ED2691544AF}" type="slidenum">
              <a:rPr lang="en-IN" smtClean="0"/>
              <a:t>‹#›</a:t>
            </a:fld>
            <a:endParaRPr lang="en-IN"/>
          </a:p>
        </p:txBody>
      </p:sp>
    </p:spTree>
    <p:extLst>
      <p:ext uri="{BB962C8B-B14F-4D97-AF65-F5344CB8AC3E}">
        <p14:creationId xmlns:p14="http://schemas.microsoft.com/office/powerpoint/2010/main" val="179334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17DAF2-A4A3-D174-7D70-B31FEAA0414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4E952E0-00CB-65D6-F544-FAD7BE8980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044E6C-5A19-FC9A-AD24-CC663387E716}"/>
              </a:ext>
            </a:extLst>
          </p:cNvPr>
          <p:cNvSpPr>
            <a:spLocks noGrp="1"/>
          </p:cNvSpPr>
          <p:nvPr>
            <p:ph type="dt" sz="half" idx="10"/>
          </p:nvPr>
        </p:nvSpPr>
        <p:spPr/>
        <p:txBody>
          <a:bodyPr/>
          <a:lstStyle/>
          <a:p>
            <a:fld id="{631717AA-58BD-4B62-85DB-AA4D8FF97EDA}" type="datetimeFigureOut">
              <a:rPr lang="en-IN" smtClean="0"/>
              <a:t>15-04-2025</a:t>
            </a:fld>
            <a:endParaRPr lang="en-IN"/>
          </a:p>
        </p:txBody>
      </p:sp>
      <p:sp>
        <p:nvSpPr>
          <p:cNvPr id="5" name="Footer Placeholder 4">
            <a:extLst>
              <a:ext uri="{FF2B5EF4-FFF2-40B4-BE49-F238E27FC236}">
                <a16:creationId xmlns:a16="http://schemas.microsoft.com/office/drawing/2014/main" id="{9D570D7B-C655-F754-B81E-6C64F283B8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24E4EE-C476-AA61-5BB8-46BB265C5C30}"/>
              </a:ext>
            </a:extLst>
          </p:cNvPr>
          <p:cNvSpPr>
            <a:spLocks noGrp="1"/>
          </p:cNvSpPr>
          <p:nvPr>
            <p:ph type="sldNum" sz="quarter" idx="12"/>
          </p:nvPr>
        </p:nvSpPr>
        <p:spPr/>
        <p:txBody>
          <a:bodyPr/>
          <a:lstStyle/>
          <a:p>
            <a:fld id="{6C1DA989-B6E0-4E48-B38D-0ED2691544AF}" type="slidenum">
              <a:rPr lang="en-IN" smtClean="0"/>
              <a:t>‹#›</a:t>
            </a:fld>
            <a:endParaRPr lang="en-IN"/>
          </a:p>
        </p:txBody>
      </p:sp>
    </p:spTree>
    <p:extLst>
      <p:ext uri="{BB962C8B-B14F-4D97-AF65-F5344CB8AC3E}">
        <p14:creationId xmlns:p14="http://schemas.microsoft.com/office/powerpoint/2010/main" val="12618123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77CA66-ACA6-DCBD-9043-9DA15C7A16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52B61D0-5B16-170B-9892-E3AAE5B21E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A80E08-5EA9-1E01-FE05-F89A2D6398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31717AA-58BD-4B62-85DB-AA4D8FF97EDA}" type="datetimeFigureOut">
              <a:rPr lang="en-IN" smtClean="0"/>
              <a:t>15-04-2025</a:t>
            </a:fld>
            <a:endParaRPr lang="en-IN"/>
          </a:p>
        </p:txBody>
      </p:sp>
      <p:sp>
        <p:nvSpPr>
          <p:cNvPr id="5" name="Footer Placeholder 4">
            <a:extLst>
              <a:ext uri="{FF2B5EF4-FFF2-40B4-BE49-F238E27FC236}">
                <a16:creationId xmlns:a16="http://schemas.microsoft.com/office/drawing/2014/main" id="{F0C2CAB3-90A8-7F72-DAD6-08EFB6AFA4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76ECDE8-EB19-4DB6-2A78-DEB0EB58A1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C1DA989-B6E0-4E48-B38D-0ED2691544AF}" type="slidenum">
              <a:rPr lang="en-IN" smtClean="0"/>
              <a:t>‹#›</a:t>
            </a:fld>
            <a:endParaRPr lang="en-IN"/>
          </a:p>
        </p:txBody>
      </p:sp>
    </p:spTree>
    <p:extLst>
      <p:ext uri="{BB962C8B-B14F-4D97-AF65-F5344CB8AC3E}">
        <p14:creationId xmlns:p14="http://schemas.microsoft.com/office/powerpoint/2010/main" val="11253263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BCB726A-9B56-3CAF-4B11-D1E24F4287A7}"/>
              </a:ext>
            </a:extLst>
          </p:cNvPr>
          <p:cNvSpPr>
            <a:spLocks noGrp="1"/>
          </p:cNvSpPr>
          <p:nvPr>
            <p:ph type="ctrTitle"/>
          </p:nvPr>
        </p:nvSpPr>
        <p:spPr>
          <a:xfrm>
            <a:off x="6241774" y="913442"/>
            <a:ext cx="5950226" cy="1977803"/>
          </a:xfrm>
        </p:spPr>
        <p:txBody>
          <a:bodyPr anchor="b">
            <a:noAutofit/>
          </a:bodyPr>
          <a:lstStyle/>
          <a:p>
            <a:r>
              <a:rPr lang="en-US" sz="3200" b="1" dirty="0"/>
              <a:t>Distributed Traffic Surveillance Image Processing System with Fault Tolerance and API Authentication</a:t>
            </a:r>
            <a:endParaRPr lang="en-IN" sz="3200" dirty="0">
              <a:latin typeface="Arial Black" panose="020B0A04020102020204" pitchFamily="34" charset="0"/>
            </a:endParaRPr>
          </a:p>
        </p:txBody>
      </p:sp>
      <p:sp>
        <p:nvSpPr>
          <p:cNvPr id="5" name="Subtitle 2">
            <a:extLst>
              <a:ext uri="{FF2B5EF4-FFF2-40B4-BE49-F238E27FC236}">
                <a16:creationId xmlns:a16="http://schemas.microsoft.com/office/drawing/2014/main" id="{3BF41FB1-7069-2DA1-9002-C769CB08BCFA}"/>
              </a:ext>
            </a:extLst>
          </p:cNvPr>
          <p:cNvSpPr>
            <a:spLocks noGrp="1"/>
          </p:cNvSpPr>
          <p:nvPr>
            <p:ph type="subTitle" idx="1"/>
          </p:nvPr>
        </p:nvSpPr>
        <p:spPr>
          <a:xfrm>
            <a:off x="6587720" y="3777343"/>
            <a:ext cx="5321251" cy="2514600"/>
          </a:xfrm>
        </p:spPr>
        <p:txBody>
          <a:bodyPr anchor="t">
            <a:normAutofit/>
          </a:bodyPr>
          <a:lstStyle/>
          <a:p>
            <a:pPr>
              <a:lnSpc>
                <a:spcPct val="100000"/>
              </a:lnSpc>
            </a:pPr>
            <a:r>
              <a:rPr lang="en-IN" sz="2000" dirty="0"/>
              <a:t>Kancharla Yaswanth - BL.EN.U4CSE22031</a:t>
            </a:r>
          </a:p>
          <a:p>
            <a:pPr>
              <a:lnSpc>
                <a:spcPct val="100000"/>
              </a:lnSpc>
            </a:pPr>
            <a:r>
              <a:rPr lang="en-IN" sz="2000" dirty="0"/>
              <a:t>Lohith Kandibanda - BL.EN.U4CSE22032 </a:t>
            </a:r>
          </a:p>
          <a:p>
            <a:pPr>
              <a:lnSpc>
                <a:spcPct val="100000"/>
              </a:lnSpc>
            </a:pPr>
            <a:r>
              <a:rPr lang="en-IN" sz="2000" dirty="0"/>
              <a:t>Lakshmi Priya P - BL.EN.U4CSE22034</a:t>
            </a:r>
          </a:p>
          <a:p>
            <a:pPr>
              <a:lnSpc>
                <a:spcPct val="100000"/>
              </a:lnSpc>
            </a:pPr>
            <a:r>
              <a:rPr lang="en-US" sz="2000" dirty="0"/>
              <a:t>Amrita School of Computing, Amrita Vishwa Vidyapeetham, Bengaluru</a:t>
            </a:r>
            <a:endParaRPr lang="en-IN" sz="2000" dirty="0"/>
          </a:p>
        </p:txBody>
      </p:sp>
      <p:pic>
        <p:nvPicPr>
          <p:cNvPr id="6" name="Picture 5" descr="A close-up of a network&#10;&#10;AI-generated content may be incorrect.">
            <a:extLst>
              <a:ext uri="{FF2B5EF4-FFF2-40B4-BE49-F238E27FC236}">
                <a16:creationId xmlns:a16="http://schemas.microsoft.com/office/drawing/2014/main" id="{1B2742D2-E50D-75F6-9448-1BBC7D212AF3}"/>
              </a:ext>
            </a:extLst>
          </p:cNvPr>
          <p:cNvPicPr>
            <a:picLocks noChangeAspect="1"/>
          </p:cNvPicPr>
          <p:nvPr/>
        </p:nvPicPr>
        <p:blipFill>
          <a:blip r:embed="rId2"/>
          <a:srcRect l="47744" r="2418"/>
          <a:stretch/>
        </p:blipFill>
        <p:spPr>
          <a:xfrm>
            <a:off x="0" y="0"/>
            <a:ext cx="6096000" cy="6857985"/>
          </a:xfrm>
          <a:prstGeom prst="rect">
            <a:avLst/>
          </a:prstGeom>
        </p:spPr>
      </p:pic>
    </p:spTree>
    <p:extLst>
      <p:ext uri="{BB962C8B-B14F-4D97-AF65-F5344CB8AC3E}">
        <p14:creationId xmlns:p14="http://schemas.microsoft.com/office/powerpoint/2010/main" val="1641396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5">
                                            <p:txEl>
                                              <p:pRg st="0" end="0"/>
                                            </p:txEl>
                                          </p:spTgt>
                                        </p:tgtEl>
                                        <p:attrNameLst>
                                          <p:attrName>style.visibility</p:attrName>
                                        </p:attrNameLst>
                                      </p:cBhvr>
                                      <p:to>
                                        <p:strVal val="visible"/>
                                      </p:to>
                                    </p:set>
                                    <p:animEffect transition="in" filter="fade">
                                      <p:cBhvr>
                                        <p:cTn id="10" dur="400"/>
                                        <p:tgtEl>
                                          <p:spTgt spid="5">
                                            <p:txEl>
                                              <p:pRg st="0" end="0"/>
                                            </p:txEl>
                                          </p:spTgt>
                                        </p:tgtEl>
                                      </p:cBhvr>
                                    </p:animEffect>
                                  </p:childTnLst>
                                </p:cTn>
                              </p:par>
                              <p:par>
                                <p:cTn id="11" presetID="10" presetClass="entr" presetSubtype="0" fill="hold" grpId="0" nodeType="withEffect">
                                  <p:stCondLst>
                                    <p:cond delay="2000"/>
                                  </p:stCondLst>
                                  <p:iterate type="lt">
                                    <p:tmPct val="10000"/>
                                  </p:iterate>
                                  <p:childTnLst>
                                    <p:set>
                                      <p:cBhvr>
                                        <p:cTn id="12" dur="1" fill="hold">
                                          <p:stCondLst>
                                            <p:cond delay="0"/>
                                          </p:stCondLst>
                                        </p:cTn>
                                        <p:tgtEl>
                                          <p:spTgt spid="5">
                                            <p:txEl>
                                              <p:pRg st="1" end="1"/>
                                            </p:txEl>
                                          </p:spTgt>
                                        </p:tgtEl>
                                        <p:attrNameLst>
                                          <p:attrName>style.visibility</p:attrName>
                                        </p:attrNameLst>
                                      </p:cBhvr>
                                      <p:to>
                                        <p:strVal val="visible"/>
                                      </p:to>
                                    </p:set>
                                    <p:animEffect transition="in" filter="fade">
                                      <p:cBhvr>
                                        <p:cTn id="13" dur="400"/>
                                        <p:tgtEl>
                                          <p:spTgt spid="5">
                                            <p:txEl>
                                              <p:pRg st="1" end="1"/>
                                            </p:txEl>
                                          </p:spTgt>
                                        </p:tgtEl>
                                      </p:cBhvr>
                                    </p:animEffect>
                                  </p:childTnLst>
                                </p:cTn>
                              </p:par>
                              <p:par>
                                <p:cTn id="14" presetID="10" presetClass="entr" presetSubtype="0" fill="hold" grpId="0" nodeType="withEffect">
                                  <p:stCondLst>
                                    <p:cond delay="2000"/>
                                  </p:stCondLst>
                                  <p:iterate type="lt">
                                    <p:tmPct val="10000"/>
                                  </p:iterate>
                                  <p:childTnLst>
                                    <p:set>
                                      <p:cBhvr>
                                        <p:cTn id="15" dur="1" fill="hold">
                                          <p:stCondLst>
                                            <p:cond delay="0"/>
                                          </p:stCondLst>
                                        </p:cTn>
                                        <p:tgtEl>
                                          <p:spTgt spid="5">
                                            <p:txEl>
                                              <p:pRg st="2" end="2"/>
                                            </p:txEl>
                                          </p:spTgt>
                                        </p:tgtEl>
                                        <p:attrNameLst>
                                          <p:attrName>style.visibility</p:attrName>
                                        </p:attrNameLst>
                                      </p:cBhvr>
                                      <p:to>
                                        <p:strVal val="visible"/>
                                      </p:to>
                                    </p:set>
                                    <p:animEffect transition="in" filter="fade">
                                      <p:cBhvr>
                                        <p:cTn id="16" dur="400"/>
                                        <p:tgtEl>
                                          <p:spTgt spid="5">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2000"/>
                                  </p:stCondLst>
                                  <p:iterate type="lt">
                                    <p:tmPct val="10000"/>
                                  </p:iterate>
                                  <p:childTnLst>
                                    <p:set>
                                      <p:cBhvr>
                                        <p:cTn id="20" dur="1" fill="hold">
                                          <p:stCondLst>
                                            <p:cond delay="0"/>
                                          </p:stCondLst>
                                        </p:cTn>
                                        <p:tgtEl>
                                          <p:spTgt spid="5">
                                            <p:txEl>
                                              <p:pRg st="3" end="3"/>
                                            </p:txEl>
                                          </p:spTgt>
                                        </p:tgtEl>
                                        <p:attrNameLst>
                                          <p:attrName>style.visibility</p:attrName>
                                        </p:attrNameLst>
                                      </p:cBhvr>
                                      <p:to>
                                        <p:strVal val="visible"/>
                                      </p:to>
                                    </p:set>
                                    <p:animEffect transition="in" filter="fade">
                                      <p:cBhvr>
                                        <p:cTn id="21" dur="4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81BF7-FD23-BEC5-10C0-1671B15DFE90}"/>
              </a:ext>
            </a:extLst>
          </p:cNvPr>
          <p:cNvSpPr>
            <a:spLocks noGrp="1"/>
          </p:cNvSpPr>
          <p:nvPr>
            <p:ph type="title"/>
          </p:nvPr>
        </p:nvSpPr>
        <p:spPr>
          <a:xfrm>
            <a:off x="0" y="108727"/>
            <a:ext cx="12192000" cy="865239"/>
          </a:xfrm>
        </p:spPr>
        <p:txBody>
          <a:bodyPr>
            <a:normAutofit/>
          </a:bodyPr>
          <a:lstStyle/>
          <a:p>
            <a:pPr algn="ctr"/>
            <a:r>
              <a:rPr lang="en-IN" sz="3200" dirty="0">
                <a:latin typeface="Arial Black" panose="020B0A04020102020204" pitchFamily="34" charset="0"/>
              </a:rPr>
              <a:t>PROBLEM STATEMENT</a:t>
            </a:r>
          </a:p>
        </p:txBody>
      </p:sp>
      <p:sp>
        <p:nvSpPr>
          <p:cNvPr id="5" name="Rectangle 2">
            <a:extLst>
              <a:ext uri="{FF2B5EF4-FFF2-40B4-BE49-F238E27FC236}">
                <a16:creationId xmlns:a16="http://schemas.microsoft.com/office/drawing/2014/main" id="{A6ED4F2D-9254-A2DC-B4A7-F636B4453BE8}"/>
              </a:ext>
            </a:extLst>
          </p:cNvPr>
          <p:cNvSpPr>
            <a:spLocks noGrp="1" noChangeArrowheads="1"/>
          </p:cNvSpPr>
          <p:nvPr>
            <p:ph idx="1"/>
          </p:nvPr>
        </p:nvSpPr>
        <p:spPr bwMode="auto">
          <a:xfrm>
            <a:off x="865239" y="820078"/>
            <a:ext cx="10412362" cy="610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traffic surveillance systems are often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centralized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creating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single points of failure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during real-time processing or high-load conditions.</a:t>
            </a:r>
          </a:p>
          <a:p>
            <a:pPr algn="just"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These limitations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hinder accurate traffic law enforcement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delay violation detection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make it difficult to scale across cities or highways.</a:t>
            </a:r>
          </a:p>
          <a:p>
            <a:pPr algn="just"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Centralized APIs without authentication are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prone to abuse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lack proper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rate-limiting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expose sensitive image data without control.</a:t>
            </a:r>
          </a:p>
          <a:p>
            <a:pPr algn="just"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There’s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critical need for a fault-tolerant, modular, and secure distributed platform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real-time traffic image processing and vehicle recognition.</a:t>
            </a:r>
          </a:p>
          <a:p>
            <a:pPr algn="just" eaLnBrk="0" fontAlgn="base" hangingPunct="0">
              <a:lnSpc>
                <a:spcPct val="100000"/>
              </a:lnSpc>
              <a:spcBef>
                <a:spcPct val="0"/>
              </a:spcBef>
              <a:spcAft>
                <a:spcPct val="0"/>
              </a:spcAft>
            </a:pPr>
            <a:r>
              <a:rPr lang="en-IN" sz="2000" dirty="0">
                <a:latin typeface="Times New Roman" panose="02020603050405020304" pitchFamily="18" charset="0"/>
                <a:cs typeface="Times New Roman" panose="02020603050405020304" pitchFamily="18" charset="0"/>
              </a:rPr>
              <a:t>The system must support:</a:t>
            </a:r>
          </a:p>
          <a:p>
            <a:pPr lvl="1" algn="just"/>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Distributed master-worker architecture</a:t>
            </a:r>
            <a:r>
              <a:rPr lang="en-IN" sz="2000" dirty="0">
                <a:latin typeface="Times New Roman" panose="02020603050405020304" pitchFamily="18" charset="0"/>
                <a:cs typeface="Times New Roman" panose="02020603050405020304" pitchFamily="18" charset="0"/>
              </a:rPr>
              <a:t> for load-balanced task execution</a:t>
            </a:r>
          </a:p>
          <a:p>
            <a:pPr lvl="1" algn="just"/>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Asynchronous task queueing (RabbitMQ)</a:t>
            </a:r>
            <a:r>
              <a:rPr lang="en-IN" sz="2000" dirty="0">
                <a:latin typeface="Times New Roman" panose="02020603050405020304" pitchFamily="18" charset="0"/>
                <a:cs typeface="Times New Roman" panose="02020603050405020304" pitchFamily="18" charset="0"/>
              </a:rPr>
              <a:t> for decoupling processing</a:t>
            </a:r>
          </a:p>
          <a:p>
            <a:pPr lvl="1" algn="just"/>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YOLO-based object detection + OCR</a:t>
            </a:r>
            <a:r>
              <a:rPr lang="en-IN" sz="2000" dirty="0">
                <a:latin typeface="Times New Roman" panose="02020603050405020304" pitchFamily="18" charset="0"/>
                <a:cs typeface="Times New Roman" panose="02020603050405020304" pitchFamily="18" charset="0"/>
              </a:rPr>
              <a:t> for identifying vehicles and license plates</a:t>
            </a:r>
          </a:p>
          <a:p>
            <a:pPr lvl="1" algn="just"/>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Redis-backed API key management &amp; rate limiting</a:t>
            </a:r>
            <a:r>
              <a:rPr lang="en-IN" sz="2000" dirty="0">
                <a:latin typeface="Times New Roman" panose="02020603050405020304" pitchFamily="18" charset="0"/>
                <a:cs typeface="Times New Roman" panose="02020603050405020304" pitchFamily="18" charset="0"/>
              </a:rPr>
              <a:t> for secure access control</a:t>
            </a:r>
          </a:p>
          <a:p>
            <a:pPr lvl="1" algn="just"/>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Dockerized microservices</a:t>
            </a:r>
            <a:r>
              <a:rPr lang="en-IN" sz="2000" dirty="0">
                <a:latin typeface="Times New Roman" panose="02020603050405020304" pitchFamily="18" charset="0"/>
                <a:cs typeface="Times New Roman" panose="02020603050405020304" pitchFamily="18" charset="0"/>
              </a:rPr>
              <a:t> for scalability and modular deployments</a:t>
            </a:r>
          </a:p>
          <a:p>
            <a:pPr algn="just"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platform should be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resilient, scalable, and integration-ready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smart city applications, law enforcement APIs, and autonomous monitoring.</a:t>
            </a:r>
          </a:p>
          <a:p>
            <a:pPr algn="just"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Ultimately, the goal is to build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distributed traffic surveillance system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that ensures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operational continuity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processing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access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even under heavy load or partial service failure.</a:t>
            </a:r>
          </a:p>
        </p:txBody>
      </p:sp>
    </p:spTree>
    <p:extLst>
      <p:ext uri="{BB962C8B-B14F-4D97-AF65-F5344CB8AC3E}">
        <p14:creationId xmlns:p14="http://schemas.microsoft.com/office/powerpoint/2010/main" val="13056194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D8C60-A6B0-9139-0599-9E7B4A24B0DF}"/>
              </a:ext>
            </a:extLst>
          </p:cNvPr>
          <p:cNvSpPr>
            <a:spLocks noGrp="1"/>
          </p:cNvSpPr>
          <p:nvPr>
            <p:ph type="title"/>
          </p:nvPr>
        </p:nvSpPr>
        <p:spPr>
          <a:xfrm>
            <a:off x="0" y="365125"/>
            <a:ext cx="12192000" cy="844243"/>
          </a:xfrm>
        </p:spPr>
        <p:txBody>
          <a:bodyPr>
            <a:normAutofit/>
          </a:bodyPr>
          <a:lstStyle/>
          <a:p>
            <a:pPr algn="ctr"/>
            <a:r>
              <a:rPr lang="en-IN" sz="3200" dirty="0">
                <a:latin typeface="Arial Black" panose="020B0A04020102020204" pitchFamily="34" charset="0"/>
              </a:rPr>
              <a:t>PROJECT OBJECTIVE</a:t>
            </a:r>
          </a:p>
        </p:txBody>
      </p:sp>
      <p:sp>
        <p:nvSpPr>
          <p:cNvPr id="3" name="Content Placeholder 2">
            <a:extLst>
              <a:ext uri="{FF2B5EF4-FFF2-40B4-BE49-F238E27FC236}">
                <a16:creationId xmlns:a16="http://schemas.microsoft.com/office/drawing/2014/main" id="{45B5F876-F33F-A197-11EB-2007EB2F61E6}"/>
              </a:ext>
            </a:extLst>
          </p:cNvPr>
          <p:cNvSpPr>
            <a:spLocks noGrp="1"/>
          </p:cNvSpPr>
          <p:nvPr>
            <p:ph idx="1"/>
          </p:nvPr>
        </p:nvSpPr>
        <p:spPr>
          <a:xfrm>
            <a:off x="838200" y="1825625"/>
            <a:ext cx="10515600" cy="3739433"/>
          </a:xfrm>
        </p:spPr>
        <p:txBody>
          <a:bodyPr>
            <a:normAutofit/>
          </a:bodyPr>
          <a:lstStyle/>
          <a:p>
            <a:pPr marL="0" indent="0" algn="just">
              <a:buNone/>
            </a:pPr>
            <a:r>
              <a:rPr lang="en-US" sz="1800" dirty="0">
                <a:latin typeface="Arial "/>
              </a:rPr>
              <a:t>The paper introduces the Distributed Traffic Surveillance Image Processing System, a fault-tolerant platform designed to perform real-time vehicle detection and license plate recognition from uploaded traffic images. The system leverages a distributed master-worker architecture, YOLOv8 for object detection, and EasyOCR for plate recognition, ensuring accurate analysis under high traffic loads. Integrated components like Redis for result caching and rate limiting, and RabbitMQ for fault-tolerant task queuing, enable reliable asynchronous communication across microservices.</a:t>
            </a:r>
          </a:p>
          <a:p>
            <a:pPr marL="0" indent="0" algn="just">
              <a:buNone/>
            </a:pPr>
            <a:endParaRPr lang="en-US" sz="1800" dirty="0">
              <a:latin typeface="Arial "/>
            </a:endParaRPr>
          </a:p>
          <a:p>
            <a:pPr marL="0" indent="0" algn="just">
              <a:buNone/>
            </a:pPr>
            <a:r>
              <a:rPr lang="en-US" sz="1800" dirty="0">
                <a:latin typeface="Arial "/>
              </a:rPr>
              <a:t>By embedding API key-based authentication and rate control, the system enforces secure usage while maintaining seamless performance. Designed with modularity and extensibility in mind, it supports deployment across cloud or edge environments using Docker-based microservices. The platform provides a scalable and secure foundation for law enforcement APIs, smart city monitoring, and automated traffic analysis systems. It offers a robust blueprint for resilient, secure, and scalable traffic monitoring infrastructure.</a:t>
            </a:r>
            <a:endParaRPr lang="en-IN" sz="1800" dirty="0">
              <a:latin typeface="Arial "/>
            </a:endParaRPr>
          </a:p>
        </p:txBody>
      </p:sp>
    </p:spTree>
    <p:extLst>
      <p:ext uri="{BB962C8B-B14F-4D97-AF65-F5344CB8AC3E}">
        <p14:creationId xmlns:p14="http://schemas.microsoft.com/office/powerpoint/2010/main" val="1519860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BA294-A9D6-A83B-DFEC-D4D0B9087A1C}"/>
              </a:ext>
            </a:extLst>
          </p:cNvPr>
          <p:cNvSpPr>
            <a:spLocks noGrp="1"/>
          </p:cNvSpPr>
          <p:nvPr>
            <p:ph type="title"/>
          </p:nvPr>
        </p:nvSpPr>
        <p:spPr>
          <a:xfrm>
            <a:off x="487679" y="0"/>
            <a:ext cx="10515600" cy="1325563"/>
          </a:xfrm>
        </p:spPr>
        <p:txBody>
          <a:bodyPr>
            <a:normAutofit/>
          </a:bodyPr>
          <a:lstStyle/>
          <a:p>
            <a:pPr algn="ctr"/>
            <a:r>
              <a:rPr lang="en-IN" sz="3200" dirty="0">
                <a:latin typeface="Arial Black" panose="020B0A04020102020204" pitchFamily="34" charset="0"/>
              </a:rPr>
              <a:t>LITERATURE SURVEY</a:t>
            </a:r>
            <a:endParaRPr lang="en-IN" sz="3200" dirty="0"/>
          </a:p>
        </p:txBody>
      </p:sp>
      <p:graphicFrame>
        <p:nvGraphicFramePr>
          <p:cNvPr id="3" name="Table 2">
            <a:extLst>
              <a:ext uri="{FF2B5EF4-FFF2-40B4-BE49-F238E27FC236}">
                <a16:creationId xmlns:a16="http://schemas.microsoft.com/office/drawing/2014/main" id="{D0FBC5A8-846E-30EA-B11F-94528556ECD5}"/>
              </a:ext>
            </a:extLst>
          </p:cNvPr>
          <p:cNvGraphicFramePr>
            <a:graphicFrameLocks noGrp="1"/>
          </p:cNvGraphicFramePr>
          <p:nvPr>
            <p:extLst>
              <p:ext uri="{D42A27DB-BD31-4B8C-83A1-F6EECF244321}">
                <p14:modId xmlns:p14="http://schemas.microsoft.com/office/powerpoint/2010/main" val="2925198929"/>
              </p:ext>
            </p:extLst>
          </p:nvPr>
        </p:nvGraphicFramePr>
        <p:xfrm>
          <a:off x="0" y="1218424"/>
          <a:ext cx="12192000" cy="5639576"/>
        </p:xfrm>
        <a:graphic>
          <a:graphicData uri="http://schemas.openxmlformats.org/drawingml/2006/table">
            <a:tbl>
              <a:tblPr firstRow="1" bandRow="1">
                <a:tableStyleId>{5C22544A-7EE6-4342-B048-85BDC9FD1C3A}</a:tableStyleId>
              </a:tblPr>
              <a:tblGrid>
                <a:gridCol w="923971">
                  <a:extLst>
                    <a:ext uri="{9D8B030D-6E8A-4147-A177-3AD203B41FA5}">
                      <a16:colId xmlns:a16="http://schemas.microsoft.com/office/drawing/2014/main" val="20000"/>
                    </a:ext>
                  </a:extLst>
                </a:gridCol>
                <a:gridCol w="2831689">
                  <a:extLst>
                    <a:ext uri="{9D8B030D-6E8A-4147-A177-3AD203B41FA5}">
                      <a16:colId xmlns:a16="http://schemas.microsoft.com/office/drawing/2014/main" val="20001"/>
                    </a:ext>
                  </a:extLst>
                </a:gridCol>
                <a:gridCol w="996335">
                  <a:extLst>
                    <a:ext uri="{9D8B030D-6E8A-4147-A177-3AD203B41FA5}">
                      <a16:colId xmlns:a16="http://schemas.microsoft.com/office/drawing/2014/main" val="20002"/>
                    </a:ext>
                  </a:extLst>
                </a:gridCol>
                <a:gridCol w="2475107">
                  <a:extLst>
                    <a:ext uri="{9D8B030D-6E8A-4147-A177-3AD203B41FA5}">
                      <a16:colId xmlns:a16="http://schemas.microsoft.com/office/drawing/2014/main" val="20003"/>
                    </a:ext>
                  </a:extLst>
                </a:gridCol>
                <a:gridCol w="2527546">
                  <a:extLst>
                    <a:ext uri="{9D8B030D-6E8A-4147-A177-3AD203B41FA5}">
                      <a16:colId xmlns:a16="http://schemas.microsoft.com/office/drawing/2014/main" val="20004"/>
                    </a:ext>
                  </a:extLst>
                </a:gridCol>
                <a:gridCol w="2437352">
                  <a:extLst>
                    <a:ext uri="{9D8B030D-6E8A-4147-A177-3AD203B41FA5}">
                      <a16:colId xmlns:a16="http://schemas.microsoft.com/office/drawing/2014/main" val="20005"/>
                    </a:ext>
                  </a:extLst>
                </a:gridCol>
              </a:tblGrid>
              <a:tr h="793256">
                <a:tc>
                  <a:txBody>
                    <a:bodyPr/>
                    <a:lstStyle/>
                    <a:p>
                      <a:pPr algn="ctr"/>
                      <a:r>
                        <a:rPr sz="1800" dirty="0" err="1"/>
                        <a:t>S.No</a:t>
                      </a:r>
                      <a:endParaRPr sz="1800" dirty="0"/>
                    </a:p>
                  </a:txBody>
                  <a:tcPr anchor="ctr"/>
                </a:tc>
                <a:tc>
                  <a:txBody>
                    <a:bodyPr/>
                    <a:lstStyle/>
                    <a:p>
                      <a:pPr algn="ctr"/>
                      <a:r>
                        <a:rPr sz="1800" dirty="0"/>
                        <a:t>Title</a:t>
                      </a:r>
                    </a:p>
                  </a:txBody>
                  <a:tcPr anchor="ctr"/>
                </a:tc>
                <a:tc>
                  <a:txBody>
                    <a:bodyPr/>
                    <a:lstStyle/>
                    <a:p>
                      <a:pPr algn="ctr"/>
                      <a:r>
                        <a:rPr sz="1800"/>
                        <a:t>Year</a:t>
                      </a:r>
                    </a:p>
                  </a:txBody>
                  <a:tcPr anchor="ctr"/>
                </a:tc>
                <a:tc>
                  <a:txBody>
                    <a:bodyPr/>
                    <a:lstStyle/>
                    <a:p>
                      <a:pPr algn="ctr"/>
                      <a:r>
                        <a:rPr sz="1800"/>
                        <a:t>Tools &amp; Methods</a:t>
                      </a:r>
                    </a:p>
                  </a:txBody>
                  <a:tcPr anchor="ctr"/>
                </a:tc>
                <a:tc>
                  <a:txBody>
                    <a:bodyPr/>
                    <a:lstStyle/>
                    <a:p>
                      <a:pPr algn="ctr"/>
                      <a:r>
                        <a:rPr sz="1800"/>
                        <a:t>Contributions</a:t>
                      </a:r>
                    </a:p>
                  </a:txBody>
                  <a:tcPr anchor="ctr"/>
                </a:tc>
                <a:tc>
                  <a:txBody>
                    <a:bodyPr/>
                    <a:lstStyle/>
                    <a:p>
                      <a:pPr algn="ctr"/>
                      <a:r>
                        <a:rPr lang="en-IN" sz="1800" dirty="0"/>
                        <a:t>Our</a:t>
                      </a:r>
                      <a:r>
                        <a:rPr sz="1800" dirty="0"/>
                        <a:t> Work</a:t>
                      </a:r>
                    </a:p>
                  </a:txBody>
                  <a:tcPr anchor="ctr"/>
                </a:tc>
                <a:extLst>
                  <a:ext uri="{0D108BD9-81ED-4DB2-BD59-A6C34878D82A}">
                    <a16:rowId xmlns:a16="http://schemas.microsoft.com/office/drawing/2014/main" val="10000"/>
                  </a:ext>
                </a:extLst>
              </a:tr>
              <a:tr h="1124982">
                <a:tc>
                  <a:txBody>
                    <a:bodyPr/>
                    <a:lstStyle/>
                    <a:p>
                      <a:pPr algn="ctr"/>
                      <a:r>
                        <a:rPr sz="1800"/>
                        <a:t>1</a:t>
                      </a:r>
                    </a:p>
                  </a:txBody>
                  <a:tcPr anchor="ctr"/>
                </a:tc>
                <a:tc>
                  <a:txBody>
                    <a:bodyPr/>
                    <a:lstStyle/>
                    <a:p>
                      <a:pPr algn="ctr"/>
                      <a:r>
                        <a:rPr sz="1800" dirty="0"/>
                        <a:t>Enhancing Automated Vehicle License Plate Recognition with YOLOv8 and </a:t>
                      </a:r>
                      <a:r>
                        <a:rPr sz="1800" dirty="0" err="1"/>
                        <a:t>EasyOCR</a:t>
                      </a:r>
                      <a:endParaRPr sz="1800" dirty="0"/>
                    </a:p>
                  </a:txBody>
                  <a:tcPr anchor="ctr"/>
                </a:tc>
                <a:tc>
                  <a:txBody>
                    <a:bodyPr/>
                    <a:lstStyle/>
                    <a:p>
                      <a:pPr algn="ctr"/>
                      <a:r>
                        <a:rPr sz="1800"/>
                        <a:t>2024</a:t>
                      </a:r>
                    </a:p>
                  </a:txBody>
                  <a:tcPr anchor="ctr"/>
                </a:tc>
                <a:tc>
                  <a:txBody>
                    <a:bodyPr/>
                    <a:lstStyle/>
                    <a:p>
                      <a:pPr algn="ctr"/>
                      <a:r>
                        <a:rPr sz="1800" dirty="0"/>
                        <a:t>YOLOv8, </a:t>
                      </a:r>
                      <a:r>
                        <a:rPr sz="1800" dirty="0" err="1"/>
                        <a:t>EasyOCR</a:t>
                      </a:r>
                      <a:r>
                        <a:rPr sz="1800" dirty="0"/>
                        <a:t>, CNN</a:t>
                      </a:r>
                    </a:p>
                  </a:txBody>
                  <a:tcPr anchor="ctr"/>
                </a:tc>
                <a:tc>
                  <a:txBody>
                    <a:bodyPr/>
                    <a:lstStyle/>
                    <a:p>
                      <a:pPr algn="ctr"/>
                      <a:r>
                        <a:rPr sz="1800"/>
                        <a:t>Real-time plate recognition with 100% object detection and 74.66% text accuracy.</a:t>
                      </a:r>
                    </a:p>
                  </a:txBody>
                  <a:tcPr anchor="ctr"/>
                </a:tc>
                <a:tc>
                  <a:txBody>
                    <a:bodyPr/>
                    <a:lstStyle/>
                    <a:p>
                      <a:pPr algn="ctr"/>
                      <a:r>
                        <a:rPr sz="1800"/>
                        <a:t>Adds distributed processing, fault tolerance, and expert assignment.</a:t>
                      </a:r>
                    </a:p>
                  </a:txBody>
                  <a:tcPr anchor="ctr"/>
                </a:tc>
                <a:extLst>
                  <a:ext uri="{0D108BD9-81ED-4DB2-BD59-A6C34878D82A}">
                    <a16:rowId xmlns:a16="http://schemas.microsoft.com/office/drawing/2014/main" val="10001"/>
                  </a:ext>
                </a:extLst>
              </a:tr>
              <a:tr h="865371">
                <a:tc>
                  <a:txBody>
                    <a:bodyPr/>
                    <a:lstStyle/>
                    <a:p>
                      <a:pPr algn="ctr"/>
                      <a:r>
                        <a:rPr sz="1800"/>
                        <a:t>2</a:t>
                      </a:r>
                    </a:p>
                  </a:txBody>
                  <a:tcPr anchor="ctr"/>
                </a:tc>
                <a:tc>
                  <a:txBody>
                    <a:bodyPr/>
                    <a:lstStyle/>
                    <a:p>
                      <a:pPr algn="ctr"/>
                      <a:r>
                        <a:rPr sz="1800"/>
                        <a:t>Automatic License Plate Recognition using YOLOv5 and EasyOCR</a:t>
                      </a:r>
                    </a:p>
                  </a:txBody>
                  <a:tcPr anchor="ctr"/>
                </a:tc>
                <a:tc>
                  <a:txBody>
                    <a:bodyPr/>
                    <a:lstStyle/>
                    <a:p>
                      <a:pPr algn="ctr"/>
                      <a:r>
                        <a:rPr sz="1800"/>
                        <a:t>2022</a:t>
                      </a:r>
                    </a:p>
                  </a:txBody>
                  <a:tcPr anchor="ctr"/>
                </a:tc>
                <a:tc>
                  <a:txBody>
                    <a:bodyPr/>
                    <a:lstStyle/>
                    <a:p>
                      <a:pPr algn="ctr"/>
                      <a:r>
                        <a:rPr sz="1800" dirty="0"/>
                        <a:t>YOLOv5, </a:t>
                      </a:r>
                      <a:r>
                        <a:rPr sz="1800" dirty="0" err="1"/>
                        <a:t>EasyOCR</a:t>
                      </a:r>
                      <a:r>
                        <a:rPr sz="1800" dirty="0"/>
                        <a:t>, OpenCV</a:t>
                      </a:r>
                    </a:p>
                  </a:txBody>
                  <a:tcPr anchor="ctr"/>
                </a:tc>
                <a:tc>
                  <a:txBody>
                    <a:bodyPr/>
                    <a:lstStyle/>
                    <a:p>
                      <a:pPr algn="ctr"/>
                      <a:r>
                        <a:rPr sz="1800"/>
                        <a:t>YOLOv5 + EasyOCR for modular, fast plate recognition.</a:t>
                      </a:r>
                    </a:p>
                  </a:txBody>
                  <a:tcPr anchor="ctr"/>
                </a:tc>
                <a:tc>
                  <a:txBody>
                    <a:bodyPr/>
                    <a:lstStyle/>
                    <a:p>
                      <a:pPr algn="ctr"/>
                      <a:r>
                        <a:rPr sz="1800"/>
                        <a:t>Uses YOLOv8 + RabbitMQ + Redis rate limiting.</a:t>
                      </a:r>
                    </a:p>
                  </a:txBody>
                  <a:tcPr anchor="ctr"/>
                </a:tc>
                <a:extLst>
                  <a:ext uri="{0D108BD9-81ED-4DB2-BD59-A6C34878D82A}">
                    <a16:rowId xmlns:a16="http://schemas.microsoft.com/office/drawing/2014/main" val="10002"/>
                  </a:ext>
                </a:extLst>
              </a:tr>
              <a:tr h="865371">
                <a:tc>
                  <a:txBody>
                    <a:bodyPr/>
                    <a:lstStyle/>
                    <a:p>
                      <a:pPr algn="ctr"/>
                      <a:r>
                        <a:rPr sz="1800"/>
                        <a:t>3</a:t>
                      </a:r>
                    </a:p>
                  </a:txBody>
                  <a:tcPr anchor="ctr"/>
                </a:tc>
                <a:tc>
                  <a:txBody>
                    <a:bodyPr/>
                    <a:lstStyle/>
                    <a:p>
                      <a:pPr algn="ctr"/>
                      <a:r>
                        <a:rPr sz="1800"/>
                        <a:t>Lightweight Distributed Road Traffic Monitoring</a:t>
                      </a:r>
                    </a:p>
                  </a:txBody>
                  <a:tcPr anchor="ctr"/>
                </a:tc>
                <a:tc>
                  <a:txBody>
                    <a:bodyPr/>
                    <a:lstStyle/>
                    <a:p>
                      <a:pPr algn="ctr"/>
                      <a:r>
                        <a:rPr sz="1800"/>
                        <a:t>2021</a:t>
                      </a:r>
                    </a:p>
                  </a:txBody>
                  <a:tcPr anchor="ctr"/>
                </a:tc>
                <a:tc>
                  <a:txBody>
                    <a:bodyPr/>
                    <a:lstStyle/>
                    <a:p>
                      <a:pPr algn="ctr"/>
                      <a:r>
                        <a:rPr sz="1800"/>
                        <a:t>GPS, GSM, Web Services</a:t>
                      </a:r>
                    </a:p>
                  </a:txBody>
                  <a:tcPr anchor="ctr"/>
                </a:tc>
                <a:tc>
                  <a:txBody>
                    <a:bodyPr/>
                    <a:lstStyle/>
                    <a:p>
                      <a:pPr algn="ctr"/>
                      <a:r>
                        <a:rPr sz="1800"/>
                        <a:t>Horizontally scalable distributed system.</a:t>
                      </a:r>
                    </a:p>
                  </a:txBody>
                  <a:tcPr anchor="ctr"/>
                </a:tc>
                <a:tc>
                  <a:txBody>
                    <a:bodyPr/>
                    <a:lstStyle/>
                    <a:p>
                      <a:pPr algn="ctr"/>
                      <a:r>
                        <a:rPr sz="1800"/>
                        <a:t>Adds deep learning + multi-node Docker deployment.</a:t>
                      </a:r>
                    </a:p>
                  </a:txBody>
                  <a:tcPr anchor="ctr"/>
                </a:tc>
                <a:extLst>
                  <a:ext uri="{0D108BD9-81ED-4DB2-BD59-A6C34878D82A}">
                    <a16:rowId xmlns:a16="http://schemas.microsoft.com/office/drawing/2014/main" val="10003"/>
                  </a:ext>
                </a:extLst>
              </a:tr>
              <a:tr h="865371">
                <a:tc>
                  <a:txBody>
                    <a:bodyPr/>
                    <a:lstStyle/>
                    <a:p>
                      <a:pPr algn="ctr"/>
                      <a:r>
                        <a:rPr sz="1800"/>
                        <a:t>4</a:t>
                      </a:r>
                    </a:p>
                  </a:txBody>
                  <a:tcPr anchor="ctr"/>
                </a:tc>
                <a:tc>
                  <a:txBody>
                    <a:bodyPr/>
                    <a:lstStyle/>
                    <a:p>
                      <a:pPr algn="ctr"/>
                      <a:r>
                        <a:rPr sz="1800"/>
                        <a:t>Distributed Traffic Monitoring with Real-time Simulation</a:t>
                      </a:r>
                    </a:p>
                  </a:txBody>
                  <a:tcPr anchor="ctr"/>
                </a:tc>
                <a:tc>
                  <a:txBody>
                    <a:bodyPr/>
                    <a:lstStyle/>
                    <a:p>
                      <a:pPr algn="ctr"/>
                      <a:r>
                        <a:rPr sz="1800"/>
                        <a:t>1999</a:t>
                      </a:r>
                    </a:p>
                  </a:txBody>
                  <a:tcPr anchor="ctr"/>
                </a:tc>
                <a:tc>
                  <a:txBody>
                    <a:bodyPr/>
                    <a:lstStyle/>
                    <a:p>
                      <a:pPr algn="ctr"/>
                      <a:r>
                        <a:rPr sz="1800"/>
                        <a:t>SCOOT, Distributed Memory</a:t>
                      </a:r>
                    </a:p>
                  </a:txBody>
                  <a:tcPr anchor="ctr"/>
                </a:tc>
                <a:tc>
                  <a:txBody>
                    <a:bodyPr/>
                    <a:lstStyle/>
                    <a:p>
                      <a:pPr algn="ctr"/>
                      <a:r>
                        <a:rPr sz="1800"/>
                        <a:t>Simulated distributed traffic signal control.</a:t>
                      </a:r>
                    </a:p>
                  </a:txBody>
                  <a:tcPr anchor="ctr"/>
                </a:tc>
                <a:tc>
                  <a:txBody>
                    <a:bodyPr/>
                    <a:lstStyle/>
                    <a:p>
                      <a:pPr algn="ctr"/>
                      <a:r>
                        <a:rPr sz="1800"/>
                        <a:t>Real image data + ML + Redis-based tracking.</a:t>
                      </a:r>
                    </a:p>
                  </a:txBody>
                  <a:tcPr anchor="ctr"/>
                </a:tc>
                <a:extLst>
                  <a:ext uri="{0D108BD9-81ED-4DB2-BD59-A6C34878D82A}">
                    <a16:rowId xmlns:a16="http://schemas.microsoft.com/office/drawing/2014/main" val="10004"/>
                  </a:ext>
                </a:extLst>
              </a:tr>
              <a:tr h="865371">
                <a:tc>
                  <a:txBody>
                    <a:bodyPr/>
                    <a:lstStyle/>
                    <a:p>
                      <a:pPr algn="ctr"/>
                      <a:r>
                        <a:rPr sz="1800"/>
                        <a:t>5</a:t>
                      </a:r>
                    </a:p>
                  </a:txBody>
                  <a:tcPr anchor="ctr"/>
                </a:tc>
                <a:tc>
                  <a:txBody>
                    <a:bodyPr/>
                    <a:lstStyle/>
                    <a:p>
                      <a:pPr algn="ctr"/>
                      <a:r>
                        <a:rPr sz="1800"/>
                        <a:t>UAV-assisted Real-Time Traffic Monitoring</a:t>
                      </a:r>
                    </a:p>
                  </a:txBody>
                  <a:tcPr anchor="ctr"/>
                </a:tc>
                <a:tc>
                  <a:txBody>
                    <a:bodyPr/>
                    <a:lstStyle/>
                    <a:p>
                      <a:pPr algn="ctr"/>
                      <a:r>
                        <a:rPr sz="1800"/>
                        <a:t>2021</a:t>
                      </a:r>
                    </a:p>
                  </a:txBody>
                  <a:tcPr anchor="ctr"/>
                </a:tc>
                <a:tc>
                  <a:txBody>
                    <a:bodyPr/>
                    <a:lstStyle/>
                    <a:p>
                      <a:pPr algn="ctr"/>
                      <a:r>
                        <a:rPr sz="1800"/>
                        <a:t>UAVs, DL, Path Planning</a:t>
                      </a:r>
                    </a:p>
                  </a:txBody>
                  <a:tcPr anchor="ctr"/>
                </a:tc>
                <a:tc>
                  <a:txBody>
                    <a:bodyPr/>
                    <a:lstStyle/>
                    <a:p>
                      <a:pPr algn="ctr"/>
                      <a:r>
                        <a:rPr sz="1800"/>
                        <a:t>Traffic via aerial drone + deep learning.</a:t>
                      </a:r>
                    </a:p>
                  </a:txBody>
                  <a:tcPr anchor="ctr"/>
                </a:tc>
                <a:tc>
                  <a:txBody>
                    <a:bodyPr/>
                    <a:lstStyle/>
                    <a:p>
                      <a:pPr algn="ctr"/>
                      <a:r>
                        <a:rPr sz="1800" dirty="0"/>
                        <a:t>Uses static camera + real-time worker tasking.</a:t>
                      </a:r>
                    </a:p>
                  </a:txBody>
                  <a:tcPr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0031488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8425B-74C6-28C8-D29D-F68923DADC9A}"/>
              </a:ext>
            </a:extLst>
          </p:cNvPr>
          <p:cNvSpPr>
            <a:spLocks noGrp="1"/>
          </p:cNvSpPr>
          <p:nvPr>
            <p:ph type="title"/>
          </p:nvPr>
        </p:nvSpPr>
        <p:spPr>
          <a:xfrm>
            <a:off x="379412" y="0"/>
            <a:ext cx="10515600" cy="1325563"/>
          </a:xfrm>
        </p:spPr>
        <p:txBody>
          <a:bodyPr/>
          <a:lstStyle/>
          <a:p>
            <a:pPr algn="ctr"/>
            <a:r>
              <a:rPr lang="en-IN" sz="3200" dirty="0">
                <a:latin typeface="Arial Black" panose="020B0A04020102020204" pitchFamily="34" charset="0"/>
              </a:rPr>
              <a:t>LITERATURE</a:t>
            </a:r>
            <a:r>
              <a:rPr lang="en-IN" dirty="0">
                <a:latin typeface="Arial Black" panose="020B0A04020102020204" pitchFamily="34" charset="0"/>
              </a:rPr>
              <a:t> </a:t>
            </a:r>
            <a:r>
              <a:rPr lang="en-IN" sz="3200" dirty="0">
                <a:latin typeface="Arial Black" panose="020B0A04020102020204" pitchFamily="34" charset="0"/>
              </a:rPr>
              <a:t>SURVEY</a:t>
            </a:r>
            <a:endParaRPr lang="en-IN" dirty="0"/>
          </a:p>
        </p:txBody>
      </p:sp>
      <p:graphicFrame>
        <p:nvGraphicFramePr>
          <p:cNvPr id="6" name="Table 5">
            <a:extLst>
              <a:ext uri="{FF2B5EF4-FFF2-40B4-BE49-F238E27FC236}">
                <a16:creationId xmlns:a16="http://schemas.microsoft.com/office/drawing/2014/main" id="{30ECF1B4-8F8B-4459-CBDF-A9F47DE96999}"/>
              </a:ext>
            </a:extLst>
          </p:cNvPr>
          <p:cNvGraphicFramePr>
            <a:graphicFrameLocks noGrp="1"/>
          </p:cNvGraphicFramePr>
          <p:nvPr>
            <p:extLst>
              <p:ext uri="{D42A27DB-BD31-4B8C-83A1-F6EECF244321}">
                <p14:modId xmlns:p14="http://schemas.microsoft.com/office/powerpoint/2010/main" val="2286303681"/>
              </p:ext>
            </p:extLst>
          </p:nvPr>
        </p:nvGraphicFramePr>
        <p:xfrm>
          <a:off x="0" y="1052050"/>
          <a:ext cx="12192000" cy="5805948"/>
        </p:xfrm>
        <a:graphic>
          <a:graphicData uri="http://schemas.openxmlformats.org/drawingml/2006/table">
            <a:tbl>
              <a:tblPr firstRow="1" bandRow="1">
                <a:tableStyleId>{5C22544A-7EE6-4342-B048-85BDC9FD1C3A}</a:tableStyleId>
              </a:tblPr>
              <a:tblGrid>
                <a:gridCol w="934458">
                  <a:extLst>
                    <a:ext uri="{9D8B030D-6E8A-4147-A177-3AD203B41FA5}">
                      <a16:colId xmlns:a16="http://schemas.microsoft.com/office/drawing/2014/main" val="20000"/>
                    </a:ext>
                  </a:extLst>
                </a:gridCol>
                <a:gridCol w="2716325">
                  <a:extLst>
                    <a:ext uri="{9D8B030D-6E8A-4147-A177-3AD203B41FA5}">
                      <a16:colId xmlns:a16="http://schemas.microsoft.com/office/drawing/2014/main" val="20001"/>
                    </a:ext>
                  </a:extLst>
                </a:gridCol>
                <a:gridCol w="1279505">
                  <a:extLst>
                    <a:ext uri="{9D8B030D-6E8A-4147-A177-3AD203B41FA5}">
                      <a16:colId xmlns:a16="http://schemas.microsoft.com/office/drawing/2014/main" val="20002"/>
                    </a:ext>
                  </a:extLst>
                </a:gridCol>
                <a:gridCol w="2506570">
                  <a:extLst>
                    <a:ext uri="{9D8B030D-6E8A-4147-A177-3AD203B41FA5}">
                      <a16:colId xmlns:a16="http://schemas.microsoft.com/office/drawing/2014/main" val="20003"/>
                    </a:ext>
                  </a:extLst>
                </a:gridCol>
                <a:gridCol w="2579985">
                  <a:extLst>
                    <a:ext uri="{9D8B030D-6E8A-4147-A177-3AD203B41FA5}">
                      <a16:colId xmlns:a16="http://schemas.microsoft.com/office/drawing/2014/main" val="20004"/>
                    </a:ext>
                  </a:extLst>
                </a:gridCol>
                <a:gridCol w="2175157">
                  <a:extLst>
                    <a:ext uri="{9D8B030D-6E8A-4147-A177-3AD203B41FA5}">
                      <a16:colId xmlns:a16="http://schemas.microsoft.com/office/drawing/2014/main" val="20005"/>
                    </a:ext>
                  </a:extLst>
                </a:gridCol>
              </a:tblGrid>
              <a:tr h="899513">
                <a:tc>
                  <a:txBody>
                    <a:bodyPr/>
                    <a:lstStyle/>
                    <a:p>
                      <a:pPr algn="ctr"/>
                      <a:r>
                        <a:rPr dirty="0" err="1"/>
                        <a:t>S.No</a:t>
                      </a:r>
                      <a:endParaRPr dirty="0"/>
                    </a:p>
                  </a:txBody>
                  <a:tcPr anchor="ctr"/>
                </a:tc>
                <a:tc>
                  <a:txBody>
                    <a:bodyPr/>
                    <a:lstStyle/>
                    <a:p>
                      <a:pPr algn="ctr"/>
                      <a:r>
                        <a:rPr dirty="0"/>
                        <a:t>Title</a:t>
                      </a:r>
                    </a:p>
                  </a:txBody>
                  <a:tcPr anchor="ctr"/>
                </a:tc>
                <a:tc>
                  <a:txBody>
                    <a:bodyPr/>
                    <a:lstStyle/>
                    <a:p>
                      <a:pPr algn="ctr"/>
                      <a:r>
                        <a:t>Year</a:t>
                      </a:r>
                    </a:p>
                  </a:txBody>
                  <a:tcPr anchor="ctr"/>
                </a:tc>
                <a:tc>
                  <a:txBody>
                    <a:bodyPr/>
                    <a:lstStyle/>
                    <a:p>
                      <a:pPr algn="ctr"/>
                      <a:r>
                        <a:t>Tools &amp; Methods</a:t>
                      </a:r>
                    </a:p>
                  </a:txBody>
                  <a:tcPr anchor="ctr"/>
                </a:tc>
                <a:tc>
                  <a:txBody>
                    <a:bodyPr/>
                    <a:lstStyle/>
                    <a:p>
                      <a:pPr algn="ctr"/>
                      <a:r>
                        <a:t>Contributions</a:t>
                      </a:r>
                    </a:p>
                  </a:txBody>
                  <a:tcPr anchor="ctr"/>
                </a:tc>
                <a:tc>
                  <a:txBody>
                    <a:bodyPr/>
                    <a:lstStyle/>
                    <a:p>
                      <a:pPr algn="ctr"/>
                      <a:r>
                        <a:rPr lang="en-IN" dirty="0"/>
                        <a:t>Our</a:t>
                      </a:r>
                      <a:r>
                        <a:rPr dirty="0"/>
                        <a:t> Work</a:t>
                      </a:r>
                    </a:p>
                  </a:txBody>
                  <a:tcPr anchor="ctr"/>
                </a:tc>
                <a:extLst>
                  <a:ext uri="{0D108BD9-81ED-4DB2-BD59-A6C34878D82A}">
                    <a16:rowId xmlns:a16="http://schemas.microsoft.com/office/drawing/2014/main" val="10000"/>
                  </a:ext>
                </a:extLst>
              </a:tr>
              <a:tr h="981287">
                <a:tc>
                  <a:txBody>
                    <a:bodyPr/>
                    <a:lstStyle/>
                    <a:p>
                      <a:pPr algn="ctr"/>
                      <a:r>
                        <a:rPr dirty="0"/>
                        <a:t>6</a:t>
                      </a:r>
                    </a:p>
                  </a:txBody>
                  <a:tcPr anchor="ctr"/>
                </a:tc>
                <a:tc>
                  <a:txBody>
                    <a:bodyPr/>
                    <a:lstStyle/>
                    <a:p>
                      <a:pPr algn="ctr"/>
                      <a:r>
                        <a:rPr dirty="0"/>
                        <a:t>License Plate Detection with YOLOv8 and CSV Logging</a:t>
                      </a:r>
                    </a:p>
                  </a:txBody>
                  <a:tcPr anchor="ctr"/>
                </a:tc>
                <a:tc>
                  <a:txBody>
                    <a:bodyPr/>
                    <a:lstStyle/>
                    <a:p>
                      <a:pPr algn="ctr"/>
                      <a:r>
                        <a:t>2024</a:t>
                      </a:r>
                    </a:p>
                  </a:txBody>
                  <a:tcPr anchor="ctr"/>
                </a:tc>
                <a:tc>
                  <a:txBody>
                    <a:bodyPr/>
                    <a:lstStyle/>
                    <a:p>
                      <a:pPr algn="ctr"/>
                      <a:r>
                        <a:t>YOLOv8, CSV</a:t>
                      </a:r>
                    </a:p>
                  </a:txBody>
                  <a:tcPr anchor="ctr"/>
                </a:tc>
                <a:tc>
                  <a:txBody>
                    <a:bodyPr/>
                    <a:lstStyle/>
                    <a:p>
                      <a:pPr algn="ctr"/>
                      <a:r>
                        <a:t>Logs detection and bounding boxes to CSV.</a:t>
                      </a:r>
                    </a:p>
                  </a:txBody>
                  <a:tcPr anchor="ctr"/>
                </a:tc>
                <a:tc>
                  <a:txBody>
                    <a:bodyPr/>
                    <a:lstStyle/>
                    <a:p>
                      <a:pPr algn="ctr"/>
                      <a:r>
                        <a:t>Returns via REST API + Redis instead of file export.</a:t>
                      </a:r>
                    </a:p>
                  </a:txBody>
                  <a:tcPr anchor="ctr"/>
                </a:tc>
                <a:extLst>
                  <a:ext uri="{0D108BD9-81ED-4DB2-BD59-A6C34878D82A}">
                    <a16:rowId xmlns:a16="http://schemas.microsoft.com/office/drawing/2014/main" val="10001"/>
                  </a:ext>
                </a:extLst>
              </a:tr>
              <a:tr h="981287">
                <a:tc>
                  <a:txBody>
                    <a:bodyPr/>
                    <a:lstStyle/>
                    <a:p>
                      <a:pPr algn="ctr"/>
                      <a:r>
                        <a:t>7</a:t>
                      </a:r>
                    </a:p>
                  </a:txBody>
                  <a:tcPr anchor="ctr"/>
                </a:tc>
                <a:tc>
                  <a:txBody>
                    <a:bodyPr/>
                    <a:lstStyle/>
                    <a:p>
                      <a:pPr algn="ctr"/>
                      <a:r>
                        <a:t>Object Identification in ALPR with Deep Learning</a:t>
                      </a:r>
                    </a:p>
                  </a:txBody>
                  <a:tcPr anchor="ctr"/>
                </a:tc>
                <a:tc>
                  <a:txBody>
                    <a:bodyPr/>
                    <a:lstStyle/>
                    <a:p>
                      <a:pPr algn="ctr"/>
                      <a:r>
                        <a:t>2022</a:t>
                      </a:r>
                    </a:p>
                  </a:txBody>
                  <a:tcPr anchor="ctr"/>
                </a:tc>
                <a:tc>
                  <a:txBody>
                    <a:bodyPr/>
                    <a:lstStyle/>
                    <a:p>
                      <a:pPr algn="ctr"/>
                      <a:r>
                        <a:t>YOLOv5, EasyOCR, ALPR</a:t>
                      </a:r>
                    </a:p>
                  </a:txBody>
                  <a:tcPr anchor="ctr"/>
                </a:tc>
                <a:tc>
                  <a:txBody>
                    <a:bodyPr/>
                    <a:lstStyle/>
                    <a:p>
                      <a:pPr algn="ctr"/>
                      <a:r>
                        <a:t>CNN-based ALPR with good low-light performance.</a:t>
                      </a:r>
                    </a:p>
                  </a:txBody>
                  <a:tcPr anchor="ctr"/>
                </a:tc>
                <a:tc>
                  <a:txBody>
                    <a:bodyPr/>
                    <a:lstStyle/>
                    <a:p>
                      <a:pPr algn="ctr"/>
                      <a:r>
                        <a:t>EasyOCR + task-wide distributed queuing.</a:t>
                      </a:r>
                    </a:p>
                  </a:txBody>
                  <a:tcPr anchor="ctr"/>
                </a:tc>
                <a:extLst>
                  <a:ext uri="{0D108BD9-81ED-4DB2-BD59-A6C34878D82A}">
                    <a16:rowId xmlns:a16="http://schemas.microsoft.com/office/drawing/2014/main" val="10002"/>
                  </a:ext>
                </a:extLst>
              </a:tr>
              <a:tr h="981287">
                <a:tc>
                  <a:txBody>
                    <a:bodyPr/>
                    <a:lstStyle/>
                    <a:p>
                      <a:pPr algn="ctr"/>
                      <a:r>
                        <a:t>8</a:t>
                      </a:r>
                    </a:p>
                  </a:txBody>
                  <a:tcPr anchor="ctr"/>
                </a:tc>
                <a:tc>
                  <a:txBody>
                    <a:bodyPr/>
                    <a:lstStyle/>
                    <a:p>
                      <a:pPr algn="ctr"/>
                      <a:r>
                        <a:t>Smart Cities: Real-Time Processing with Storm &amp; Spark</a:t>
                      </a:r>
                    </a:p>
                  </a:txBody>
                  <a:tcPr anchor="ctr"/>
                </a:tc>
                <a:tc>
                  <a:txBody>
                    <a:bodyPr/>
                    <a:lstStyle/>
                    <a:p>
                      <a:pPr algn="ctr"/>
                      <a:r>
                        <a:t>2021</a:t>
                      </a:r>
                    </a:p>
                  </a:txBody>
                  <a:tcPr anchor="ctr"/>
                </a:tc>
                <a:tc>
                  <a:txBody>
                    <a:bodyPr/>
                    <a:lstStyle/>
                    <a:p>
                      <a:pPr algn="ctr"/>
                      <a:r>
                        <a:t>Spark, Kafka, Flink</a:t>
                      </a:r>
                    </a:p>
                  </a:txBody>
                  <a:tcPr anchor="ctr"/>
                </a:tc>
                <a:tc>
                  <a:txBody>
                    <a:bodyPr/>
                    <a:lstStyle/>
                    <a:p>
                      <a:pPr algn="ctr"/>
                      <a:r>
                        <a:t>Real-time data for smart city traffic control.</a:t>
                      </a:r>
                    </a:p>
                  </a:txBody>
                  <a:tcPr anchor="ctr"/>
                </a:tc>
                <a:tc>
                  <a:txBody>
                    <a:bodyPr/>
                    <a:lstStyle/>
                    <a:p>
                      <a:pPr algn="ctr"/>
                      <a:r>
                        <a:t>AI vision + REST API + violation tasking.</a:t>
                      </a:r>
                    </a:p>
                  </a:txBody>
                  <a:tcPr anchor="ctr"/>
                </a:tc>
                <a:extLst>
                  <a:ext uri="{0D108BD9-81ED-4DB2-BD59-A6C34878D82A}">
                    <a16:rowId xmlns:a16="http://schemas.microsoft.com/office/drawing/2014/main" val="10003"/>
                  </a:ext>
                </a:extLst>
              </a:tr>
              <a:tr h="981287">
                <a:tc>
                  <a:txBody>
                    <a:bodyPr/>
                    <a:lstStyle/>
                    <a:p>
                      <a:pPr algn="ctr"/>
                      <a:r>
                        <a:t>9</a:t>
                      </a:r>
                    </a:p>
                  </a:txBody>
                  <a:tcPr anchor="ctr"/>
                </a:tc>
                <a:tc>
                  <a:txBody>
                    <a:bodyPr/>
                    <a:lstStyle/>
                    <a:p>
                      <a:pPr algn="ctr"/>
                      <a:r>
                        <a:t>Optimized Tour Planning for Drone-based Traffic Monitoring</a:t>
                      </a:r>
                    </a:p>
                  </a:txBody>
                  <a:tcPr anchor="ctr"/>
                </a:tc>
                <a:tc>
                  <a:txBody>
                    <a:bodyPr/>
                    <a:lstStyle/>
                    <a:p>
                      <a:pPr algn="ctr"/>
                      <a:r>
                        <a:t>2020</a:t>
                      </a:r>
                    </a:p>
                  </a:txBody>
                  <a:tcPr anchor="ctr"/>
                </a:tc>
                <a:tc>
                  <a:txBody>
                    <a:bodyPr/>
                    <a:lstStyle/>
                    <a:p>
                      <a:pPr algn="ctr"/>
                      <a:r>
                        <a:t>UAVs, Heuristics</a:t>
                      </a:r>
                    </a:p>
                  </a:txBody>
                  <a:tcPr anchor="ctr"/>
                </a:tc>
                <a:tc>
                  <a:txBody>
                    <a:bodyPr/>
                    <a:lstStyle/>
                    <a:p>
                      <a:pPr algn="ctr"/>
                      <a:r>
                        <a:t>Heuristic planning for drone surveillance.</a:t>
                      </a:r>
                    </a:p>
                  </a:txBody>
                  <a:tcPr anchor="ctr"/>
                </a:tc>
                <a:tc>
                  <a:txBody>
                    <a:bodyPr/>
                    <a:lstStyle/>
                    <a:p>
                      <a:pPr algn="ctr"/>
                      <a:r>
                        <a:t>Fixed-camera image stream + task routing.</a:t>
                      </a:r>
                    </a:p>
                  </a:txBody>
                  <a:tcPr anchor="ctr"/>
                </a:tc>
                <a:extLst>
                  <a:ext uri="{0D108BD9-81ED-4DB2-BD59-A6C34878D82A}">
                    <a16:rowId xmlns:a16="http://schemas.microsoft.com/office/drawing/2014/main" val="10004"/>
                  </a:ext>
                </a:extLst>
              </a:tr>
              <a:tr h="981287">
                <a:tc>
                  <a:txBody>
                    <a:bodyPr/>
                    <a:lstStyle/>
                    <a:p>
                      <a:pPr algn="ctr"/>
                      <a:r>
                        <a:rPr dirty="0"/>
                        <a:t>10</a:t>
                      </a:r>
                    </a:p>
                  </a:txBody>
                  <a:tcPr anchor="ctr"/>
                </a:tc>
                <a:tc>
                  <a:txBody>
                    <a:bodyPr/>
                    <a:lstStyle/>
                    <a:p>
                      <a:pPr algn="ctr"/>
                      <a:r>
                        <a:rPr dirty="0"/>
                        <a:t>Real-Time Bidirectional Traffic Flow Estimation</a:t>
                      </a:r>
                    </a:p>
                  </a:txBody>
                  <a:tcPr anchor="ctr"/>
                </a:tc>
                <a:tc>
                  <a:txBody>
                    <a:bodyPr/>
                    <a:lstStyle/>
                    <a:p>
                      <a:pPr algn="ctr"/>
                      <a:r>
                        <a:t>2016</a:t>
                      </a:r>
                    </a:p>
                  </a:txBody>
                  <a:tcPr anchor="ctr"/>
                </a:tc>
                <a:tc>
                  <a:txBody>
                    <a:bodyPr/>
                    <a:lstStyle/>
                    <a:p>
                      <a:pPr algn="ctr"/>
                      <a:r>
                        <a:t>CNN, Optical Flow</a:t>
                      </a:r>
                    </a:p>
                  </a:txBody>
                  <a:tcPr anchor="ctr"/>
                </a:tc>
                <a:tc>
                  <a:txBody>
                    <a:bodyPr/>
                    <a:lstStyle/>
                    <a:p>
                      <a:pPr algn="ctr"/>
                      <a:r>
                        <a:t>Estimate flow via aerial video + DL.</a:t>
                      </a:r>
                    </a:p>
                  </a:txBody>
                  <a:tcPr anchor="ctr"/>
                </a:tc>
                <a:tc>
                  <a:txBody>
                    <a:bodyPr/>
                    <a:lstStyle/>
                    <a:p>
                      <a:pPr algn="ctr"/>
                      <a:r>
                        <a:rPr dirty="0"/>
                        <a:t>Container-based upload → detect → respond.</a:t>
                      </a:r>
                    </a:p>
                  </a:txBody>
                  <a:tcPr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599767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48C34-FBB9-5657-6697-3445A92042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3396F2-F1A9-B132-5CC0-CE84837C3727}"/>
              </a:ext>
            </a:extLst>
          </p:cNvPr>
          <p:cNvSpPr>
            <a:spLocks noGrp="1"/>
          </p:cNvSpPr>
          <p:nvPr>
            <p:ph type="title"/>
          </p:nvPr>
        </p:nvSpPr>
        <p:spPr>
          <a:xfrm>
            <a:off x="379412" y="0"/>
            <a:ext cx="10515600" cy="1325563"/>
          </a:xfrm>
        </p:spPr>
        <p:txBody>
          <a:bodyPr>
            <a:normAutofit/>
          </a:bodyPr>
          <a:lstStyle/>
          <a:p>
            <a:pPr algn="ctr"/>
            <a:r>
              <a:rPr lang="en-IN" sz="3200" dirty="0">
                <a:latin typeface="Arial Black" panose="020B0A04020102020204" pitchFamily="34" charset="0"/>
              </a:rPr>
              <a:t>LITERATURE SURVEY</a:t>
            </a:r>
            <a:endParaRPr lang="en-IN" sz="3200" dirty="0"/>
          </a:p>
        </p:txBody>
      </p:sp>
      <p:graphicFrame>
        <p:nvGraphicFramePr>
          <p:cNvPr id="3" name="Table 2">
            <a:extLst>
              <a:ext uri="{FF2B5EF4-FFF2-40B4-BE49-F238E27FC236}">
                <a16:creationId xmlns:a16="http://schemas.microsoft.com/office/drawing/2014/main" id="{D056FC47-64A3-692A-E8CD-2BA55CBC3B4E}"/>
              </a:ext>
            </a:extLst>
          </p:cNvPr>
          <p:cNvGraphicFramePr>
            <a:graphicFrameLocks noGrp="1"/>
          </p:cNvGraphicFramePr>
          <p:nvPr>
            <p:extLst>
              <p:ext uri="{D42A27DB-BD31-4B8C-83A1-F6EECF244321}">
                <p14:modId xmlns:p14="http://schemas.microsoft.com/office/powerpoint/2010/main" val="187786729"/>
              </p:ext>
            </p:extLst>
          </p:nvPr>
        </p:nvGraphicFramePr>
        <p:xfrm>
          <a:off x="0" y="1155290"/>
          <a:ext cx="12192001" cy="4547420"/>
        </p:xfrm>
        <a:graphic>
          <a:graphicData uri="http://schemas.openxmlformats.org/drawingml/2006/table">
            <a:tbl>
              <a:tblPr firstRow="1" bandRow="1">
                <a:tableStyleId>{5C22544A-7EE6-4342-B048-85BDC9FD1C3A}</a:tableStyleId>
              </a:tblPr>
              <a:tblGrid>
                <a:gridCol w="850556">
                  <a:extLst>
                    <a:ext uri="{9D8B030D-6E8A-4147-A177-3AD203B41FA5}">
                      <a16:colId xmlns:a16="http://schemas.microsoft.com/office/drawing/2014/main" val="20000"/>
                    </a:ext>
                  </a:extLst>
                </a:gridCol>
                <a:gridCol w="2538034">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gridCol w="2391205">
                  <a:extLst>
                    <a:ext uri="{9D8B030D-6E8A-4147-A177-3AD203B41FA5}">
                      <a16:colId xmlns:a16="http://schemas.microsoft.com/office/drawing/2014/main" val="20003"/>
                    </a:ext>
                  </a:extLst>
                </a:gridCol>
                <a:gridCol w="2538034">
                  <a:extLst>
                    <a:ext uri="{9D8B030D-6E8A-4147-A177-3AD203B41FA5}">
                      <a16:colId xmlns:a16="http://schemas.microsoft.com/office/drawing/2014/main" val="20004"/>
                    </a:ext>
                  </a:extLst>
                </a:gridCol>
                <a:gridCol w="2248572">
                  <a:extLst>
                    <a:ext uri="{9D8B030D-6E8A-4147-A177-3AD203B41FA5}">
                      <a16:colId xmlns:a16="http://schemas.microsoft.com/office/drawing/2014/main" val="20005"/>
                    </a:ext>
                  </a:extLst>
                </a:gridCol>
              </a:tblGrid>
              <a:tr h="1136855">
                <a:tc>
                  <a:txBody>
                    <a:bodyPr/>
                    <a:lstStyle/>
                    <a:p>
                      <a:pPr algn="ctr"/>
                      <a:r>
                        <a:rPr dirty="0" err="1"/>
                        <a:t>S.No</a:t>
                      </a:r>
                      <a:endParaRPr dirty="0"/>
                    </a:p>
                  </a:txBody>
                  <a:tcPr anchor="ctr"/>
                </a:tc>
                <a:tc>
                  <a:txBody>
                    <a:bodyPr/>
                    <a:lstStyle/>
                    <a:p>
                      <a:pPr algn="ctr"/>
                      <a:r>
                        <a:rPr dirty="0"/>
                        <a:t>Title</a:t>
                      </a:r>
                    </a:p>
                  </a:txBody>
                  <a:tcPr anchor="ctr"/>
                </a:tc>
                <a:tc>
                  <a:txBody>
                    <a:bodyPr/>
                    <a:lstStyle/>
                    <a:p>
                      <a:pPr algn="ctr"/>
                      <a:r>
                        <a:t>Year</a:t>
                      </a:r>
                    </a:p>
                  </a:txBody>
                  <a:tcPr anchor="ctr"/>
                </a:tc>
                <a:tc>
                  <a:txBody>
                    <a:bodyPr/>
                    <a:lstStyle/>
                    <a:p>
                      <a:pPr algn="ctr"/>
                      <a:r>
                        <a:t>Tools &amp; Methods</a:t>
                      </a:r>
                    </a:p>
                  </a:txBody>
                  <a:tcPr anchor="ctr"/>
                </a:tc>
                <a:tc>
                  <a:txBody>
                    <a:bodyPr/>
                    <a:lstStyle/>
                    <a:p>
                      <a:pPr algn="ctr"/>
                      <a:r>
                        <a:t>Contributions</a:t>
                      </a:r>
                    </a:p>
                  </a:txBody>
                  <a:tcPr anchor="ctr"/>
                </a:tc>
                <a:tc>
                  <a:txBody>
                    <a:bodyPr/>
                    <a:lstStyle/>
                    <a:p>
                      <a:pPr algn="ctr"/>
                      <a:r>
                        <a:rPr lang="en-IN" dirty="0"/>
                        <a:t>Our</a:t>
                      </a:r>
                      <a:r>
                        <a:rPr dirty="0"/>
                        <a:t> Work</a:t>
                      </a:r>
                    </a:p>
                  </a:txBody>
                  <a:tcPr anchor="ctr"/>
                </a:tc>
                <a:extLst>
                  <a:ext uri="{0D108BD9-81ED-4DB2-BD59-A6C34878D82A}">
                    <a16:rowId xmlns:a16="http://schemas.microsoft.com/office/drawing/2014/main" val="10000"/>
                  </a:ext>
                </a:extLst>
              </a:tr>
              <a:tr h="1136855">
                <a:tc>
                  <a:txBody>
                    <a:bodyPr/>
                    <a:lstStyle/>
                    <a:p>
                      <a:pPr algn="ctr"/>
                      <a:r>
                        <a:t>11</a:t>
                      </a:r>
                    </a:p>
                  </a:txBody>
                  <a:tcPr anchor="ctr"/>
                </a:tc>
                <a:tc>
                  <a:txBody>
                    <a:bodyPr/>
                    <a:lstStyle/>
                    <a:p>
                      <a:pPr algn="ctr"/>
                      <a:r>
                        <a:rPr dirty="0"/>
                        <a:t>Real-time Big Data Framework for IoT</a:t>
                      </a:r>
                    </a:p>
                  </a:txBody>
                  <a:tcPr anchor="ctr"/>
                </a:tc>
                <a:tc>
                  <a:txBody>
                    <a:bodyPr/>
                    <a:lstStyle/>
                    <a:p>
                      <a:pPr algn="ctr"/>
                      <a:r>
                        <a:t>2015</a:t>
                      </a:r>
                    </a:p>
                  </a:txBody>
                  <a:tcPr anchor="ctr"/>
                </a:tc>
                <a:tc>
                  <a:txBody>
                    <a:bodyPr/>
                    <a:lstStyle/>
                    <a:p>
                      <a:pPr algn="ctr"/>
                      <a:r>
                        <a:t>Spark, Kafka, Hadoop</a:t>
                      </a:r>
                    </a:p>
                  </a:txBody>
                  <a:tcPr anchor="ctr"/>
                </a:tc>
                <a:tc>
                  <a:txBody>
                    <a:bodyPr/>
                    <a:lstStyle/>
                    <a:p>
                      <a:pPr algn="ctr"/>
                      <a:r>
                        <a:rPr dirty="0"/>
                        <a:t>Big data streaming framework.</a:t>
                      </a:r>
                    </a:p>
                  </a:txBody>
                  <a:tcPr anchor="ctr"/>
                </a:tc>
                <a:tc>
                  <a:txBody>
                    <a:bodyPr/>
                    <a:lstStyle/>
                    <a:p>
                      <a:pPr algn="ctr"/>
                      <a:r>
                        <a:t>Your system adapts this for real-time vision pipelines.</a:t>
                      </a:r>
                    </a:p>
                  </a:txBody>
                  <a:tcPr anchor="ctr"/>
                </a:tc>
                <a:extLst>
                  <a:ext uri="{0D108BD9-81ED-4DB2-BD59-A6C34878D82A}">
                    <a16:rowId xmlns:a16="http://schemas.microsoft.com/office/drawing/2014/main" val="10001"/>
                  </a:ext>
                </a:extLst>
              </a:tr>
              <a:tr h="1136855">
                <a:tc>
                  <a:txBody>
                    <a:bodyPr/>
                    <a:lstStyle/>
                    <a:p>
                      <a:pPr algn="ctr"/>
                      <a:r>
                        <a:t>12</a:t>
                      </a:r>
                    </a:p>
                  </a:txBody>
                  <a:tcPr anchor="ctr"/>
                </a:tc>
                <a:tc>
                  <a:txBody>
                    <a:bodyPr/>
                    <a:lstStyle/>
                    <a:p>
                      <a:pPr algn="ctr"/>
                      <a:r>
                        <a:t>Recommendation Systems with Skill &amp; Availability Matching</a:t>
                      </a:r>
                    </a:p>
                  </a:txBody>
                  <a:tcPr anchor="ctr"/>
                </a:tc>
                <a:tc>
                  <a:txBody>
                    <a:bodyPr/>
                    <a:lstStyle/>
                    <a:p>
                      <a:pPr algn="ctr"/>
                      <a:r>
                        <a:t>2021</a:t>
                      </a:r>
                    </a:p>
                  </a:txBody>
                  <a:tcPr anchor="ctr"/>
                </a:tc>
                <a:tc>
                  <a:txBody>
                    <a:bodyPr/>
                    <a:lstStyle/>
                    <a:p>
                      <a:pPr algn="ctr"/>
                      <a:r>
                        <a:t>Collaborative Filtering</a:t>
                      </a:r>
                    </a:p>
                  </a:txBody>
                  <a:tcPr anchor="ctr"/>
                </a:tc>
                <a:tc>
                  <a:txBody>
                    <a:bodyPr/>
                    <a:lstStyle/>
                    <a:p>
                      <a:pPr algn="ctr"/>
                      <a:r>
                        <a:t>Expert matching in IT/healthcare.</a:t>
                      </a:r>
                    </a:p>
                  </a:txBody>
                  <a:tcPr anchor="ctr"/>
                </a:tc>
                <a:tc>
                  <a:txBody>
                    <a:bodyPr/>
                    <a:lstStyle/>
                    <a:p>
                      <a:pPr algn="ctr"/>
                      <a:r>
                        <a:t>Worker-expert assignment based on skill sets.</a:t>
                      </a:r>
                    </a:p>
                  </a:txBody>
                  <a:tcPr anchor="ctr"/>
                </a:tc>
                <a:extLst>
                  <a:ext uri="{0D108BD9-81ED-4DB2-BD59-A6C34878D82A}">
                    <a16:rowId xmlns:a16="http://schemas.microsoft.com/office/drawing/2014/main" val="10002"/>
                  </a:ext>
                </a:extLst>
              </a:tr>
              <a:tr h="1136855">
                <a:tc>
                  <a:txBody>
                    <a:bodyPr/>
                    <a:lstStyle/>
                    <a:p>
                      <a:pPr algn="ctr"/>
                      <a:r>
                        <a:t>13</a:t>
                      </a:r>
                    </a:p>
                  </a:txBody>
                  <a:tcPr anchor="ctr"/>
                </a:tc>
                <a:tc>
                  <a:txBody>
                    <a:bodyPr/>
                    <a:lstStyle/>
                    <a:p>
                      <a:pPr algn="ctr"/>
                      <a:r>
                        <a:t>CouchDB vs Firebase in Real-time Health Simulators</a:t>
                      </a:r>
                    </a:p>
                  </a:txBody>
                  <a:tcPr anchor="ctr"/>
                </a:tc>
                <a:tc>
                  <a:txBody>
                    <a:bodyPr/>
                    <a:lstStyle/>
                    <a:p>
                      <a:pPr algn="ctr"/>
                      <a:r>
                        <a:t>2019</a:t>
                      </a:r>
                    </a:p>
                  </a:txBody>
                  <a:tcPr anchor="ctr"/>
                </a:tc>
                <a:tc>
                  <a:txBody>
                    <a:bodyPr/>
                    <a:lstStyle/>
                    <a:p>
                      <a:pPr algn="ctr"/>
                      <a:r>
                        <a:t>CouchDB, JSON APIs</a:t>
                      </a:r>
                    </a:p>
                  </a:txBody>
                  <a:tcPr anchor="ctr"/>
                </a:tc>
                <a:tc>
                  <a:txBody>
                    <a:bodyPr/>
                    <a:lstStyle/>
                    <a:p>
                      <a:pPr algn="ctr"/>
                      <a:r>
                        <a:t>Latency comparison of real-time DBs.</a:t>
                      </a:r>
                    </a:p>
                  </a:txBody>
                  <a:tcPr anchor="ctr"/>
                </a:tc>
                <a:tc>
                  <a:txBody>
                    <a:bodyPr/>
                    <a:lstStyle/>
                    <a:p>
                      <a:pPr algn="ctr"/>
                      <a:r>
                        <a:rPr dirty="0"/>
                        <a:t>Uses Redis + RabbitMQ for reliable task control.</a:t>
                      </a:r>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306412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PlantUML diagram">
            <a:extLst>
              <a:ext uri="{FF2B5EF4-FFF2-40B4-BE49-F238E27FC236}">
                <a16:creationId xmlns:a16="http://schemas.microsoft.com/office/drawing/2014/main" id="{C85AFEA8-483C-D409-63C9-0EE491D57E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502" y="592340"/>
            <a:ext cx="3114675" cy="59150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84955C5-D47E-EA0B-29E3-33AEE194CA43}"/>
              </a:ext>
            </a:extLst>
          </p:cNvPr>
          <p:cNvSpPr>
            <a:spLocks noGrp="1"/>
          </p:cNvSpPr>
          <p:nvPr>
            <p:ph type="title"/>
          </p:nvPr>
        </p:nvSpPr>
        <p:spPr>
          <a:xfrm>
            <a:off x="838200" y="153990"/>
            <a:ext cx="10515600" cy="1325563"/>
          </a:xfrm>
        </p:spPr>
        <p:txBody>
          <a:bodyPr/>
          <a:lstStyle/>
          <a:p>
            <a:pPr algn="ctr"/>
            <a:r>
              <a:rPr lang="en-US" sz="3200" b="1" dirty="0"/>
              <a:t>METHODOLOGY</a:t>
            </a:r>
            <a:endParaRPr lang="en-IN" b="1" dirty="0"/>
          </a:p>
        </p:txBody>
      </p:sp>
      <p:pic>
        <p:nvPicPr>
          <p:cNvPr id="5" name="Picture 4">
            <a:extLst>
              <a:ext uri="{FF2B5EF4-FFF2-40B4-BE49-F238E27FC236}">
                <a16:creationId xmlns:a16="http://schemas.microsoft.com/office/drawing/2014/main" id="{FE8E3094-F2D6-3814-855B-0904120E10FB}"/>
              </a:ext>
            </a:extLst>
          </p:cNvPr>
          <p:cNvPicPr>
            <a:picLocks noChangeAspect="1"/>
          </p:cNvPicPr>
          <p:nvPr/>
        </p:nvPicPr>
        <p:blipFill>
          <a:blip r:embed="rId3"/>
          <a:stretch>
            <a:fillRect/>
          </a:stretch>
        </p:blipFill>
        <p:spPr>
          <a:xfrm>
            <a:off x="8529693" y="0"/>
            <a:ext cx="2428150" cy="6858000"/>
          </a:xfrm>
          <a:prstGeom prst="rect">
            <a:avLst/>
          </a:prstGeom>
        </p:spPr>
      </p:pic>
    </p:spTree>
    <p:extLst>
      <p:ext uri="{BB962C8B-B14F-4D97-AF65-F5344CB8AC3E}">
        <p14:creationId xmlns:p14="http://schemas.microsoft.com/office/powerpoint/2010/main" val="12822167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D902D-2F16-9B4D-13DB-A7657FE4EE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53E36A-3217-E3A2-8994-FBECCCC259D0}"/>
              </a:ext>
            </a:extLst>
          </p:cNvPr>
          <p:cNvSpPr>
            <a:spLocks noGrp="1"/>
          </p:cNvSpPr>
          <p:nvPr>
            <p:ph type="title"/>
          </p:nvPr>
        </p:nvSpPr>
        <p:spPr/>
        <p:txBody>
          <a:bodyPr>
            <a:normAutofit/>
          </a:bodyPr>
          <a:lstStyle/>
          <a:p>
            <a:pPr algn="ctr"/>
            <a:r>
              <a:rPr lang="en-US" sz="3200" dirty="0">
                <a:latin typeface="Arial Black" panose="020B0A04020102020204" pitchFamily="34" charset="0"/>
              </a:rPr>
              <a:t>T</a:t>
            </a:r>
            <a:r>
              <a:rPr lang="en-IN" sz="3200" dirty="0">
                <a:latin typeface="Arial Black" panose="020B0A04020102020204" pitchFamily="34" charset="0"/>
              </a:rPr>
              <a:t>ECHNOLOGIES USED</a:t>
            </a:r>
          </a:p>
        </p:txBody>
      </p:sp>
      <p:graphicFrame>
        <p:nvGraphicFramePr>
          <p:cNvPr id="3" name="Table 2">
            <a:extLst>
              <a:ext uri="{FF2B5EF4-FFF2-40B4-BE49-F238E27FC236}">
                <a16:creationId xmlns:a16="http://schemas.microsoft.com/office/drawing/2014/main" id="{BA1D6949-A6EA-8AC3-3201-C600290DBDE4}"/>
              </a:ext>
            </a:extLst>
          </p:cNvPr>
          <p:cNvGraphicFramePr>
            <a:graphicFrameLocks noGrp="1"/>
          </p:cNvGraphicFramePr>
          <p:nvPr>
            <p:extLst>
              <p:ext uri="{D42A27DB-BD31-4B8C-83A1-F6EECF244321}">
                <p14:modId xmlns:p14="http://schemas.microsoft.com/office/powerpoint/2010/main" val="1256729568"/>
              </p:ext>
            </p:extLst>
          </p:nvPr>
        </p:nvGraphicFramePr>
        <p:xfrm>
          <a:off x="1025013" y="2038862"/>
          <a:ext cx="10515600" cy="3657600"/>
        </p:xfrm>
        <a:graphic>
          <a:graphicData uri="http://schemas.openxmlformats.org/drawingml/2006/table">
            <a:tbl>
              <a:tblPr>
                <a:tableStyleId>{775DCB02-9BB8-47FD-8907-85C794F793BA}</a:tableStyleId>
              </a:tblPr>
              <a:tblGrid>
                <a:gridCol w="5257800">
                  <a:extLst>
                    <a:ext uri="{9D8B030D-6E8A-4147-A177-3AD203B41FA5}">
                      <a16:colId xmlns:a16="http://schemas.microsoft.com/office/drawing/2014/main" val="2247144838"/>
                    </a:ext>
                  </a:extLst>
                </a:gridCol>
                <a:gridCol w="5257800">
                  <a:extLst>
                    <a:ext uri="{9D8B030D-6E8A-4147-A177-3AD203B41FA5}">
                      <a16:colId xmlns:a16="http://schemas.microsoft.com/office/drawing/2014/main" val="3971080952"/>
                    </a:ext>
                  </a:extLst>
                </a:gridCol>
              </a:tblGrid>
              <a:tr h="0">
                <a:tc>
                  <a:txBody>
                    <a:bodyPr/>
                    <a:lstStyle/>
                    <a:p>
                      <a:pPr algn="ctr"/>
                      <a:r>
                        <a:rPr lang="en-IN" b="1" dirty="0"/>
                        <a:t>Functionality</a:t>
                      </a:r>
                      <a:endParaRPr lang="en-IN" dirty="0"/>
                    </a:p>
                  </a:txBody>
                  <a:tcPr anchor="ctr"/>
                </a:tc>
                <a:tc>
                  <a:txBody>
                    <a:bodyPr/>
                    <a:lstStyle/>
                    <a:p>
                      <a:pPr algn="ctr"/>
                      <a:r>
                        <a:rPr lang="en-IN" b="1"/>
                        <a:t>Technology / Tool Used</a:t>
                      </a:r>
                      <a:endParaRPr lang="en-IN"/>
                    </a:p>
                  </a:txBody>
                  <a:tcPr anchor="ctr"/>
                </a:tc>
                <a:extLst>
                  <a:ext uri="{0D108BD9-81ED-4DB2-BD59-A6C34878D82A}">
                    <a16:rowId xmlns:a16="http://schemas.microsoft.com/office/drawing/2014/main" val="3030764317"/>
                  </a:ext>
                </a:extLst>
              </a:tr>
              <a:tr h="0">
                <a:tc>
                  <a:txBody>
                    <a:bodyPr/>
                    <a:lstStyle/>
                    <a:p>
                      <a:pPr algn="ctr"/>
                      <a:r>
                        <a:rPr lang="en-IN" dirty="0"/>
                        <a:t>API Development</a:t>
                      </a:r>
                    </a:p>
                  </a:txBody>
                  <a:tcPr anchor="ctr"/>
                </a:tc>
                <a:tc>
                  <a:txBody>
                    <a:bodyPr/>
                    <a:lstStyle/>
                    <a:p>
                      <a:pPr algn="ctr"/>
                      <a:r>
                        <a:rPr lang="en-IN"/>
                        <a:t>FastAPI</a:t>
                      </a:r>
                    </a:p>
                  </a:txBody>
                  <a:tcPr anchor="ctr"/>
                </a:tc>
                <a:extLst>
                  <a:ext uri="{0D108BD9-81ED-4DB2-BD59-A6C34878D82A}">
                    <a16:rowId xmlns:a16="http://schemas.microsoft.com/office/drawing/2014/main" val="2122937866"/>
                  </a:ext>
                </a:extLst>
              </a:tr>
              <a:tr h="0">
                <a:tc>
                  <a:txBody>
                    <a:bodyPr/>
                    <a:lstStyle/>
                    <a:p>
                      <a:pPr algn="ctr"/>
                      <a:r>
                        <a:rPr lang="en-IN"/>
                        <a:t>Rate Limiting &amp; Caching</a:t>
                      </a:r>
                    </a:p>
                  </a:txBody>
                  <a:tcPr anchor="ctr"/>
                </a:tc>
                <a:tc>
                  <a:txBody>
                    <a:bodyPr/>
                    <a:lstStyle/>
                    <a:p>
                      <a:pPr algn="ctr"/>
                      <a:r>
                        <a:rPr lang="en-IN"/>
                        <a:t>Redis</a:t>
                      </a:r>
                    </a:p>
                  </a:txBody>
                  <a:tcPr anchor="ctr"/>
                </a:tc>
                <a:extLst>
                  <a:ext uri="{0D108BD9-81ED-4DB2-BD59-A6C34878D82A}">
                    <a16:rowId xmlns:a16="http://schemas.microsoft.com/office/drawing/2014/main" val="4240002096"/>
                  </a:ext>
                </a:extLst>
              </a:tr>
              <a:tr h="0">
                <a:tc>
                  <a:txBody>
                    <a:bodyPr/>
                    <a:lstStyle/>
                    <a:p>
                      <a:pPr algn="ctr"/>
                      <a:r>
                        <a:rPr lang="en-IN"/>
                        <a:t>Asynchronous Task Queue</a:t>
                      </a:r>
                    </a:p>
                  </a:txBody>
                  <a:tcPr anchor="ctr"/>
                </a:tc>
                <a:tc>
                  <a:txBody>
                    <a:bodyPr/>
                    <a:lstStyle/>
                    <a:p>
                      <a:pPr algn="ctr"/>
                      <a:r>
                        <a:rPr lang="en-IN"/>
                        <a:t>RabbitMQ</a:t>
                      </a:r>
                    </a:p>
                  </a:txBody>
                  <a:tcPr anchor="ctr"/>
                </a:tc>
                <a:extLst>
                  <a:ext uri="{0D108BD9-81ED-4DB2-BD59-A6C34878D82A}">
                    <a16:rowId xmlns:a16="http://schemas.microsoft.com/office/drawing/2014/main" val="3537106783"/>
                  </a:ext>
                </a:extLst>
              </a:tr>
              <a:tr h="0">
                <a:tc>
                  <a:txBody>
                    <a:bodyPr/>
                    <a:lstStyle/>
                    <a:p>
                      <a:pPr algn="ctr"/>
                      <a:r>
                        <a:rPr lang="en-IN"/>
                        <a:t>Object Detection</a:t>
                      </a:r>
                    </a:p>
                  </a:txBody>
                  <a:tcPr anchor="ctr"/>
                </a:tc>
                <a:tc>
                  <a:txBody>
                    <a:bodyPr/>
                    <a:lstStyle/>
                    <a:p>
                      <a:pPr algn="ctr"/>
                      <a:r>
                        <a:rPr lang="en-IN"/>
                        <a:t>YOLOv8 (Ultralytics)</a:t>
                      </a:r>
                    </a:p>
                  </a:txBody>
                  <a:tcPr anchor="ctr"/>
                </a:tc>
                <a:extLst>
                  <a:ext uri="{0D108BD9-81ED-4DB2-BD59-A6C34878D82A}">
                    <a16:rowId xmlns:a16="http://schemas.microsoft.com/office/drawing/2014/main" val="4041464587"/>
                  </a:ext>
                </a:extLst>
              </a:tr>
              <a:tr h="0">
                <a:tc>
                  <a:txBody>
                    <a:bodyPr/>
                    <a:lstStyle/>
                    <a:p>
                      <a:pPr algn="ctr"/>
                      <a:r>
                        <a:rPr lang="en-IN"/>
                        <a:t>License Plate Recognition</a:t>
                      </a:r>
                    </a:p>
                  </a:txBody>
                  <a:tcPr anchor="ctr"/>
                </a:tc>
                <a:tc>
                  <a:txBody>
                    <a:bodyPr/>
                    <a:lstStyle/>
                    <a:p>
                      <a:pPr algn="ctr"/>
                      <a:r>
                        <a:rPr lang="en-IN"/>
                        <a:t>EasyOCR</a:t>
                      </a:r>
                    </a:p>
                  </a:txBody>
                  <a:tcPr anchor="ctr"/>
                </a:tc>
                <a:extLst>
                  <a:ext uri="{0D108BD9-81ED-4DB2-BD59-A6C34878D82A}">
                    <a16:rowId xmlns:a16="http://schemas.microsoft.com/office/drawing/2014/main" val="3400324457"/>
                  </a:ext>
                </a:extLst>
              </a:tr>
              <a:tr h="0">
                <a:tc>
                  <a:txBody>
                    <a:bodyPr/>
                    <a:lstStyle/>
                    <a:p>
                      <a:pPr algn="ctr"/>
                      <a:r>
                        <a:rPr lang="en-IN"/>
                        <a:t>Image Upload + Result Endpoints</a:t>
                      </a:r>
                    </a:p>
                  </a:txBody>
                  <a:tcPr anchor="ctr"/>
                </a:tc>
                <a:tc>
                  <a:txBody>
                    <a:bodyPr/>
                    <a:lstStyle/>
                    <a:p>
                      <a:pPr algn="ctr"/>
                      <a:r>
                        <a:rPr lang="en-IN"/>
                        <a:t>FastAPI + Swagger UI</a:t>
                      </a:r>
                    </a:p>
                  </a:txBody>
                  <a:tcPr anchor="ctr"/>
                </a:tc>
                <a:extLst>
                  <a:ext uri="{0D108BD9-81ED-4DB2-BD59-A6C34878D82A}">
                    <a16:rowId xmlns:a16="http://schemas.microsoft.com/office/drawing/2014/main" val="3341250173"/>
                  </a:ext>
                </a:extLst>
              </a:tr>
              <a:tr h="0">
                <a:tc>
                  <a:txBody>
                    <a:bodyPr/>
                    <a:lstStyle/>
                    <a:p>
                      <a:pPr algn="ctr"/>
                      <a:r>
                        <a:rPr lang="en-IN"/>
                        <a:t>Inter-service Communication</a:t>
                      </a:r>
                    </a:p>
                  </a:txBody>
                  <a:tcPr anchor="ctr"/>
                </a:tc>
                <a:tc>
                  <a:txBody>
                    <a:bodyPr/>
                    <a:lstStyle/>
                    <a:p>
                      <a:pPr algn="ctr"/>
                      <a:r>
                        <a:rPr lang="en-IN"/>
                        <a:t>aio-pika (async RabbitMQ client)</a:t>
                      </a:r>
                    </a:p>
                  </a:txBody>
                  <a:tcPr anchor="ctr"/>
                </a:tc>
                <a:extLst>
                  <a:ext uri="{0D108BD9-81ED-4DB2-BD59-A6C34878D82A}">
                    <a16:rowId xmlns:a16="http://schemas.microsoft.com/office/drawing/2014/main" val="458951083"/>
                  </a:ext>
                </a:extLst>
              </a:tr>
              <a:tr h="0">
                <a:tc>
                  <a:txBody>
                    <a:bodyPr/>
                    <a:lstStyle/>
                    <a:p>
                      <a:pPr algn="ctr"/>
                      <a:r>
                        <a:rPr lang="en-IN"/>
                        <a:t>Secure API Access</a:t>
                      </a:r>
                    </a:p>
                  </a:txBody>
                  <a:tcPr anchor="ctr"/>
                </a:tc>
                <a:tc>
                  <a:txBody>
                    <a:bodyPr/>
                    <a:lstStyle/>
                    <a:p>
                      <a:pPr algn="ctr"/>
                      <a:r>
                        <a:rPr lang="en-US"/>
                        <a:t>API Key Header + Redis TTL</a:t>
                      </a:r>
                    </a:p>
                  </a:txBody>
                  <a:tcPr anchor="ctr"/>
                </a:tc>
                <a:extLst>
                  <a:ext uri="{0D108BD9-81ED-4DB2-BD59-A6C34878D82A}">
                    <a16:rowId xmlns:a16="http://schemas.microsoft.com/office/drawing/2014/main" val="339072657"/>
                  </a:ext>
                </a:extLst>
              </a:tr>
              <a:tr h="0">
                <a:tc>
                  <a:txBody>
                    <a:bodyPr/>
                    <a:lstStyle/>
                    <a:p>
                      <a:pPr algn="ctr"/>
                      <a:r>
                        <a:rPr lang="en-IN"/>
                        <a:t>Containerization</a:t>
                      </a:r>
                    </a:p>
                  </a:txBody>
                  <a:tcPr anchor="ctr"/>
                </a:tc>
                <a:tc>
                  <a:txBody>
                    <a:bodyPr/>
                    <a:lstStyle/>
                    <a:p>
                      <a:pPr algn="ctr"/>
                      <a:r>
                        <a:rPr lang="en-IN" dirty="0"/>
                        <a:t>Docker + Docker Compose</a:t>
                      </a:r>
                    </a:p>
                  </a:txBody>
                  <a:tcPr anchor="ctr"/>
                </a:tc>
                <a:extLst>
                  <a:ext uri="{0D108BD9-81ED-4DB2-BD59-A6C34878D82A}">
                    <a16:rowId xmlns:a16="http://schemas.microsoft.com/office/drawing/2014/main" val="1707172280"/>
                  </a:ext>
                </a:extLst>
              </a:tr>
            </a:tbl>
          </a:graphicData>
        </a:graphic>
      </p:graphicFrame>
    </p:spTree>
    <p:extLst>
      <p:ext uri="{BB962C8B-B14F-4D97-AF65-F5344CB8AC3E}">
        <p14:creationId xmlns:p14="http://schemas.microsoft.com/office/powerpoint/2010/main" val="4069845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D4C93-2985-8AD9-6167-313307920E76}"/>
              </a:ext>
            </a:extLst>
          </p:cNvPr>
          <p:cNvSpPr>
            <a:spLocks noGrp="1"/>
          </p:cNvSpPr>
          <p:nvPr>
            <p:ph type="title"/>
          </p:nvPr>
        </p:nvSpPr>
        <p:spPr/>
        <p:txBody>
          <a:bodyPr>
            <a:normAutofit/>
          </a:bodyPr>
          <a:lstStyle/>
          <a:p>
            <a:pPr algn="ctr"/>
            <a:r>
              <a:rPr lang="en-US" sz="3200" b="1" dirty="0"/>
              <a:t>PLANNED FEATURES</a:t>
            </a:r>
            <a:endParaRPr lang="en-IN" sz="3200" b="1" dirty="0"/>
          </a:p>
        </p:txBody>
      </p:sp>
      <p:sp>
        <p:nvSpPr>
          <p:cNvPr id="3" name="Content Placeholder 2">
            <a:extLst>
              <a:ext uri="{FF2B5EF4-FFF2-40B4-BE49-F238E27FC236}">
                <a16:creationId xmlns:a16="http://schemas.microsoft.com/office/drawing/2014/main" id="{3116EB33-B34A-111D-9F67-02B0732E7676}"/>
              </a:ext>
            </a:extLst>
          </p:cNvPr>
          <p:cNvSpPr>
            <a:spLocks noGrp="1"/>
          </p:cNvSpPr>
          <p:nvPr>
            <p:ph idx="1"/>
          </p:nvPr>
        </p:nvSpPr>
        <p:spPr>
          <a:xfrm>
            <a:off x="838200" y="1825625"/>
            <a:ext cx="10515600" cy="2608723"/>
          </a:xfrm>
        </p:spPr>
        <p:txBody>
          <a:bodyPr>
            <a:normAutofit/>
          </a:bodyPr>
          <a:lstStyle/>
          <a:p>
            <a:r>
              <a:rPr lang="en-IN" sz="2400" b="1" dirty="0"/>
              <a:t>Admin &amp; Worker Role Management</a:t>
            </a:r>
          </a:p>
          <a:p>
            <a:r>
              <a:rPr lang="en-IN" sz="2400" b="1" dirty="0"/>
              <a:t>Task Reassignment via Master Node (Fault Tolerance)</a:t>
            </a:r>
          </a:p>
          <a:p>
            <a:r>
              <a:rPr lang="en-IN" sz="2400" b="1" dirty="0"/>
              <a:t>Save Annotated Images with Bounding Boxes</a:t>
            </a:r>
          </a:p>
          <a:p>
            <a:r>
              <a:rPr lang="en-IN" sz="2400" b="1" dirty="0"/>
              <a:t>Live Dashboard to View Task Status &amp; Traffic Logs</a:t>
            </a:r>
          </a:p>
          <a:p>
            <a:r>
              <a:rPr lang="en-IN" sz="2400" b="1" dirty="0"/>
              <a:t>API Usage Analytics &amp; Admin Control Panel</a:t>
            </a:r>
          </a:p>
        </p:txBody>
      </p:sp>
      <p:sp>
        <p:nvSpPr>
          <p:cNvPr id="5" name="TextBox 4">
            <a:extLst>
              <a:ext uri="{FF2B5EF4-FFF2-40B4-BE49-F238E27FC236}">
                <a16:creationId xmlns:a16="http://schemas.microsoft.com/office/drawing/2014/main" id="{608002A4-941F-32C5-8347-4A915744A2E2}"/>
              </a:ext>
            </a:extLst>
          </p:cNvPr>
          <p:cNvSpPr txBox="1"/>
          <p:nvPr/>
        </p:nvSpPr>
        <p:spPr>
          <a:xfrm>
            <a:off x="838199" y="5379544"/>
            <a:ext cx="10419735" cy="830997"/>
          </a:xfrm>
          <a:prstGeom prst="rect">
            <a:avLst/>
          </a:prstGeom>
          <a:noFill/>
        </p:spPr>
        <p:txBody>
          <a:bodyPr wrap="square">
            <a:spAutoFit/>
          </a:bodyPr>
          <a:lstStyle/>
          <a:p>
            <a:pPr marL="342900" indent="-342900">
              <a:buFont typeface="Arial" panose="020B0604020202020204" pitchFamily="34" charset="0"/>
              <a:buChar char="•"/>
            </a:pPr>
            <a:r>
              <a:rPr lang="en-IN" sz="2400" b="1" dirty="0"/>
              <a:t>Multi-Worker Cloud Deployment (Kubernetes or EC2)</a:t>
            </a:r>
          </a:p>
          <a:p>
            <a:pPr marL="342900" indent="-342900">
              <a:buFont typeface="Arial" panose="020B0604020202020204" pitchFamily="34" charset="0"/>
              <a:buChar char="•"/>
            </a:pPr>
            <a:r>
              <a:rPr lang="en-IN" sz="2400" b="1" dirty="0"/>
              <a:t>Violation Detection (Helmet, Signal Jump, Wrong Lane)</a:t>
            </a:r>
          </a:p>
        </p:txBody>
      </p:sp>
      <p:sp>
        <p:nvSpPr>
          <p:cNvPr id="7" name="TextBox 6">
            <a:extLst>
              <a:ext uri="{FF2B5EF4-FFF2-40B4-BE49-F238E27FC236}">
                <a16:creationId xmlns:a16="http://schemas.microsoft.com/office/drawing/2014/main" id="{850641B8-AD4B-605C-455B-0FD27E8ABB2D}"/>
              </a:ext>
            </a:extLst>
          </p:cNvPr>
          <p:cNvSpPr txBox="1"/>
          <p:nvPr/>
        </p:nvSpPr>
        <p:spPr>
          <a:xfrm>
            <a:off x="838201" y="4434348"/>
            <a:ext cx="10515599" cy="584775"/>
          </a:xfrm>
          <a:prstGeom prst="rect">
            <a:avLst/>
          </a:prstGeom>
          <a:noFill/>
        </p:spPr>
        <p:txBody>
          <a:bodyPr wrap="square">
            <a:spAutoFit/>
          </a:bodyPr>
          <a:lstStyle/>
          <a:p>
            <a:pPr algn="ctr"/>
            <a:r>
              <a:rPr lang="en-US" sz="3200" b="1" dirty="0"/>
              <a:t>FURTURE SCOPE</a:t>
            </a:r>
            <a:endParaRPr lang="en-IN" sz="3200" dirty="0"/>
          </a:p>
        </p:txBody>
      </p:sp>
    </p:spTree>
    <p:extLst>
      <p:ext uri="{BB962C8B-B14F-4D97-AF65-F5344CB8AC3E}">
        <p14:creationId xmlns:p14="http://schemas.microsoft.com/office/powerpoint/2010/main" val="6176288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268</TotalTime>
  <Words>950</Words>
  <Application>Microsoft Office PowerPoint</Application>
  <PresentationFormat>Widescreen</PresentationFormat>
  <Paragraphs>152</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Aptos</vt:lpstr>
      <vt:lpstr>Aptos Display</vt:lpstr>
      <vt:lpstr>Arial</vt:lpstr>
      <vt:lpstr>Arial </vt:lpstr>
      <vt:lpstr>Arial Black</vt:lpstr>
      <vt:lpstr>Times New Roman</vt:lpstr>
      <vt:lpstr>Office Theme</vt:lpstr>
      <vt:lpstr>Distributed Traffic Surveillance Image Processing System with Fault Tolerance and API Authentication</vt:lpstr>
      <vt:lpstr>PROBLEM STATEMENT</vt:lpstr>
      <vt:lpstr>PROJECT OBJECTIVE</vt:lpstr>
      <vt:lpstr>LITERATURE SURVEY</vt:lpstr>
      <vt:lpstr>LITERATURE SURVEY</vt:lpstr>
      <vt:lpstr>LITERATURE SURVEY</vt:lpstr>
      <vt:lpstr>METHODOLOGY</vt:lpstr>
      <vt:lpstr>TECHNOLOGIES USED</vt:lpstr>
      <vt:lpstr>PLANNED FEATURES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Ganesh Durupudi</dc:creator>
  <cp:lastModifiedBy>YASWANTH KANCHARLA</cp:lastModifiedBy>
  <cp:revision>10</cp:revision>
  <dcterms:created xsi:type="dcterms:W3CDTF">2025-04-14T05:51:14Z</dcterms:created>
  <dcterms:modified xsi:type="dcterms:W3CDTF">2025-04-15T17:28:31Z</dcterms:modified>
</cp:coreProperties>
</file>